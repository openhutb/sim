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2.xml" ContentType="application/vnd.openxmlformats-officedocument.presentationml.tags+xml"/>
  <Override PartName="/ppt/notesSlides/notesSlide1.xml" ContentType="application/vnd.openxmlformats-officedocument.presentationml.notesSlide+xml"/>
  <Override PartName="/ppt/tags/tag63.xml" ContentType="application/vnd.openxmlformats-officedocument.presentationml.tags+xml"/>
  <Override PartName="/ppt/notesSlides/notesSlide2.xml" ContentType="application/vnd.openxmlformats-officedocument.presentationml.notesSlide+xml"/>
  <Override PartName="/ppt/tags/tag64.xml" ContentType="application/vnd.openxmlformats-officedocument.presentationml.tags+xml"/>
  <Override PartName="/ppt/notesSlides/notesSlide3.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4.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5.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6.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7.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notesSlides/notesSlide8.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9.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83" r:id="rId2"/>
    <p:sldId id="256" r:id="rId3"/>
    <p:sldId id="258" r:id="rId4"/>
    <p:sldId id="259" r:id="rId5"/>
    <p:sldId id="270" r:id="rId6"/>
    <p:sldId id="260" r:id="rId7"/>
    <p:sldId id="274" r:id="rId8"/>
    <p:sldId id="261" r:id="rId9"/>
    <p:sldId id="275" r:id="rId10"/>
    <p:sldId id="276" r:id="rId11"/>
    <p:sldId id="269" r:id="rId12"/>
    <p:sldId id="267" r:id="rId13"/>
    <p:sldId id="277" r:id="rId14"/>
    <p:sldId id="278" r:id="rId15"/>
    <p:sldId id="282" r:id="rId16"/>
    <p:sldId id="281" r:id="rId17"/>
    <p:sldId id="263" r:id="rId18"/>
    <p:sldId id="279" r:id="rId19"/>
    <p:sldId id="280" r:id="rId20"/>
    <p:sldId id="257"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5">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7F9F"/>
    <a:srgbClr val="DFAAC0"/>
    <a:srgbClr val="F4EAF5"/>
    <a:srgbClr val="95D4D3"/>
    <a:srgbClr val="B1E3E4"/>
    <a:srgbClr val="DCDCDC"/>
    <a:srgbClr val="F0F0F0"/>
    <a:srgbClr val="E6E6E6"/>
    <a:srgbClr val="C8C8C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0" autoAdjust="0"/>
    <p:restoredTop sz="94660"/>
  </p:normalViewPr>
  <p:slideViewPr>
    <p:cSldViewPr snapToGrid="0">
      <p:cViewPr>
        <p:scale>
          <a:sx n="75" d="100"/>
          <a:sy n="75" d="100"/>
        </p:scale>
        <p:origin x="600" y="-294"/>
      </p:cViewPr>
      <p:guideLst>
        <p:guide orient="horz" pos="2185"/>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2026/1/16</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2026/1/16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8</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5BA9D-9305-D8AC-7698-B30C5E3AA3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B1B8B3-FA60-D834-7ED2-440CFAFEEA4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D9512E-CB44-821E-D936-27BEA11D917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AC23400-F617-04FC-CFD4-4AF8A00EED23}"/>
              </a:ext>
            </a:extLst>
          </p:cNvPr>
          <p:cNvSpPr>
            <a:spLocks noGrp="1"/>
          </p:cNvSpPr>
          <p:nvPr>
            <p:ph type="sldNum" sz="quarter" idx="10"/>
          </p:nvPr>
        </p:nvSpPr>
        <p:spPr/>
        <p:txBody>
          <a:bodyPr/>
          <a:lstStyle/>
          <a:p>
            <a:fld id="{85D0DACE-38E0-42D2-9336-2B707D34BC6D}" type="slidenum">
              <a:rPr lang="zh-CN" altLang="en-US" smtClean="0"/>
              <a:t>10</a:t>
            </a:fld>
            <a:endParaRPr lang="zh-CN" altLang="en-US"/>
          </a:p>
        </p:txBody>
      </p:sp>
    </p:spTree>
    <p:extLst>
      <p:ext uri="{BB962C8B-B14F-4D97-AF65-F5344CB8AC3E}">
        <p14:creationId xmlns:p14="http://schemas.microsoft.com/office/powerpoint/2010/main" val="1327636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26DB-B4FA-4E78-A32F-693B93C879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EDA5373-23ED-0E2D-06EB-C0595ED14F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3B9F5F-6A16-0E8D-B2E3-7EBA36ABFB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442CBE0-B7A0-C3C3-1EC9-6AADBF261594}"/>
              </a:ext>
            </a:extLst>
          </p:cNvPr>
          <p:cNvSpPr>
            <a:spLocks noGrp="1"/>
          </p:cNvSpPr>
          <p:nvPr>
            <p:ph type="sldNum" sz="quarter" idx="10"/>
          </p:nvPr>
        </p:nvSpPr>
        <p:spPr/>
        <p:txBody>
          <a:bodyPr/>
          <a:lstStyle/>
          <a:p>
            <a:fld id="{85D0DACE-38E0-42D2-9336-2B707D34BC6D}" type="slidenum">
              <a:rPr lang="zh-CN" altLang="en-US" smtClean="0"/>
              <a:t>14</a:t>
            </a:fld>
            <a:endParaRPr lang="zh-CN" altLang="en-US"/>
          </a:p>
        </p:txBody>
      </p:sp>
    </p:spTree>
    <p:extLst>
      <p:ext uri="{BB962C8B-B14F-4D97-AF65-F5344CB8AC3E}">
        <p14:creationId xmlns:p14="http://schemas.microsoft.com/office/powerpoint/2010/main" val="2470655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DAF44-C8C8-28B5-9192-1AFD21760F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6D076C-A389-ADA5-5FAF-2DDD8393CB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120DE0-5198-19C2-F0F3-AC17B4290A9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A84D35A-91DF-29FC-5F3E-15B7B4B37F94}"/>
              </a:ext>
            </a:extLst>
          </p:cNvPr>
          <p:cNvSpPr>
            <a:spLocks noGrp="1"/>
          </p:cNvSpPr>
          <p:nvPr>
            <p:ph type="sldNum" sz="quarter" idx="10"/>
          </p:nvPr>
        </p:nvSpPr>
        <p:spPr/>
        <p:txBody>
          <a:bodyPr/>
          <a:lstStyle/>
          <a:p>
            <a:fld id="{85D0DACE-38E0-42D2-9336-2B707D34BC6D}" type="slidenum">
              <a:rPr lang="zh-CN" altLang="en-US" smtClean="0"/>
              <a:t>16</a:t>
            </a:fld>
            <a:endParaRPr lang="zh-CN" altLang="en-US"/>
          </a:p>
        </p:txBody>
      </p:sp>
    </p:spTree>
    <p:extLst>
      <p:ext uri="{BB962C8B-B14F-4D97-AF65-F5344CB8AC3E}">
        <p14:creationId xmlns:p14="http://schemas.microsoft.com/office/powerpoint/2010/main" val="2925230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DD527-A345-BCE6-4806-D000CB6B0D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A8647DC-7595-8058-3294-B9C9018574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1E7B44-080D-0E12-B365-CD2E95D4A9A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C1CFF3F-7E99-9281-D798-02C4695F7E82}"/>
              </a:ext>
            </a:extLst>
          </p:cNvPr>
          <p:cNvSpPr>
            <a:spLocks noGrp="1"/>
          </p:cNvSpPr>
          <p:nvPr>
            <p:ph type="sldNum" sz="quarter" idx="10"/>
          </p:nvPr>
        </p:nvSpPr>
        <p:spPr/>
        <p:txBody>
          <a:bodyPr/>
          <a:lstStyle/>
          <a:p>
            <a:fld id="{85D0DACE-38E0-42D2-9336-2B707D34BC6D}" type="slidenum">
              <a:rPr lang="zh-CN" altLang="en-US" smtClean="0"/>
              <a:t>18</a:t>
            </a:fld>
            <a:endParaRPr lang="zh-CN" altLang="en-US"/>
          </a:p>
        </p:txBody>
      </p:sp>
    </p:spTree>
    <p:extLst>
      <p:ext uri="{BB962C8B-B14F-4D97-AF65-F5344CB8AC3E}">
        <p14:creationId xmlns:p14="http://schemas.microsoft.com/office/powerpoint/2010/main" val="4086643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20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slideMaster" Target="../slideMasters/slideMaster1.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2026/1/16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2026/1/16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2026/1/16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2026/1/16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2026/1/16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2026/1/16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2026/1/16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2026/1/16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2026/1/16</a:t>
            </a:fld>
            <a:endParaRPr lang="zh-CN" altLang="en-US"/>
          </a:p>
        </p:txBody>
      </p:sp>
      <p:sp>
        <p:nvSpPr>
          <p:cNvPr id="5" name="页脚占位符 4"/>
          <p:cNvSpPr>
            <a:spLocks noGrp="1"/>
          </p:cNvSpPr>
          <p:nvPr>
            <p:ph type="ftr" sz="quarter" idx="3"/>
            <p:custDataLst>
              <p:tags r:id="rId16"/>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3.xml"/><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4.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66.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8.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70.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4.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76.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78.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0.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7">
            <a:extLst>
              <a:ext uri="{FF2B5EF4-FFF2-40B4-BE49-F238E27FC236}">
                <a16:creationId xmlns:a16="http://schemas.microsoft.com/office/drawing/2014/main" id="{DA6DC229-E7DF-EF4A-8BA8-25256232F800}"/>
              </a:ext>
            </a:extLst>
          </p:cNvPr>
          <p:cNvPicPr>
            <a:picLocks noChangeAspect="1"/>
          </p:cNvPicPr>
          <p:nvPr/>
        </p:nvPicPr>
        <p:blipFill>
          <a:blip r:embed="rId2"/>
          <a:srcRect/>
          <a:stretch>
            <a:fillRect/>
          </a:stretch>
        </p:blipFill>
        <p:spPr bwMode="auto">
          <a:xfrm>
            <a:off x="0" y="0"/>
            <a:ext cx="12192000" cy="6869113"/>
          </a:xfrm>
          <a:prstGeom prst="rect">
            <a:avLst/>
          </a:prstGeom>
          <a:noFill/>
          <a:ln w="9525">
            <a:noFill/>
            <a:miter lim="800000"/>
            <a:headEnd/>
            <a:tailEnd/>
          </a:ln>
        </p:spPr>
      </p:pic>
      <p:sp>
        <p:nvSpPr>
          <p:cNvPr id="3" name="矩形 2">
            <a:extLst>
              <a:ext uri="{FF2B5EF4-FFF2-40B4-BE49-F238E27FC236}">
                <a16:creationId xmlns:a16="http://schemas.microsoft.com/office/drawing/2014/main" id="{6AB54857-EE8F-7606-B283-F5FF7B77A31A}"/>
              </a:ext>
            </a:extLst>
          </p:cNvPr>
          <p:cNvSpPr/>
          <p:nvPr/>
        </p:nvSpPr>
        <p:spPr>
          <a:xfrm>
            <a:off x="2054860" y="2294255"/>
            <a:ext cx="7744460" cy="19894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2396" tIns="51198" rIns="102396" bIns="51198" anchor="ctr"/>
          <a:lstStyle/>
          <a:p>
            <a:pPr algn="ctr">
              <a:lnSpc>
                <a:spcPct val="120000"/>
              </a:lnSpc>
              <a:defRPr/>
            </a:pPr>
            <a:r>
              <a:rPr lang="zh-CN" altLang="en-US" sz="4800" b="1" dirty="0">
                <a:solidFill>
                  <a:schemeClr val="bg1"/>
                </a:solidFill>
                <a:latin typeface="黑体" panose="02010609060101010101" charset="-122"/>
                <a:ea typeface="黑体" panose="02010609060101010101" charset="-122"/>
                <a:cs typeface="黑体" panose="02010609060101010101" charset="-122"/>
              </a:rPr>
              <a:t>智能机器人学院</a:t>
            </a:r>
            <a:br>
              <a:rPr lang="zh-CN" altLang="en-US" sz="4800" b="1" dirty="0">
                <a:solidFill>
                  <a:schemeClr val="bg1"/>
                </a:solidFill>
                <a:latin typeface="黑体" panose="02010609060101010101" charset="-122"/>
                <a:ea typeface="黑体" panose="02010609060101010101" charset="-122"/>
                <a:cs typeface="黑体" panose="02010609060101010101" charset="-122"/>
              </a:rPr>
            </a:br>
            <a:r>
              <a:rPr lang="en-US" altLang="zh-CN" sz="4800" b="1" dirty="0">
                <a:solidFill>
                  <a:schemeClr val="bg1"/>
                </a:solidFill>
                <a:latin typeface="黑体" panose="02010609060101010101" charset="-122"/>
                <a:ea typeface="黑体" panose="02010609060101010101" charset="-122"/>
                <a:cs typeface="黑体" panose="02010609060101010101" charset="-122"/>
              </a:rPr>
              <a:t>2026</a:t>
            </a:r>
            <a:r>
              <a:rPr lang="zh-CN" altLang="en-US" sz="4800" b="1" dirty="0">
                <a:solidFill>
                  <a:schemeClr val="bg1"/>
                </a:solidFill>
                <a:latin typeface="黑体" panose="02010609060101010101" charset="-122"/>
                <a:ea typeface="黑体" panose="02010609060101010101" charset="-122"/>
                <a:cs typeface="黑体" panose="02010609060101010101" charset="-122"/>
              </a:rPr>
              <a:t>届毕业论文答辩开题</a:t>
            </a:r>
          </a:p>
          <a:p>
            <a:pPr algn="ctr">
              <a:lnSpc>
                <a:spcPct val="120000"/>
              </a:lnSpc>
              <a:defRPr/>
            </a:pPr>
            <a:endParaRPr lang="zh-CN" altLang="en-US" sz="4800" b="1" dirty="0">
              <a:solidFill>
                <a:schemeClr val="bg1"/>
              </a:solidFill>
              <a:latin typeface="黑体" panose="02010609060101010101" charset="-122"/>
              <a:ea typeface="黑体" panose="02010609060101010101" charset="-122"/>
              <a:cs typeface="黑体" panose="02010609060101010101" charset="-122"/>
            </a:endParaRPr>
          </a:p>
        </p:txBody>
      </p:sp>
      <p:sp>
        <p:nvSpPr>
          <p:cNvPr id="4" name="文本框 3">
            <a:extLst>
              <a:ext uri="{FF2B5EF4-FFF2-40B4-BE49-F238E27FC236}">
                <a16:creationId xmlns:a16="http://schemas.microsoft.com/office/drawing/2014/main" id="{A2A5BD47-7BAA-ADF9-6EA0-16D03FB8F813}"/>
              </a:ext>
            </a:extLst>
          </p:cNvPr>
          <p:cNvSpPr txBox="1"/>
          <p:nvPr/>
        </p:nvSpPr>
        <p:spPr>
          <a:xfrm>
            <a:off x="4900930" y="5709920"/>
            <a:ext cx="4064000" cy="460375"/>
          </a:xfrm>
          <a:prstGeom prst="rect">
            <a:avLst/>
          </a:prstGeom>
          <a:noFill/>
        </p:spPr>
        <p:txBody>
          <a:bodyPr wrap="square" rtlCol="0">
            <a:spAutoFit/>
          </a:bodyPr>
          <a:lstStyle/>
          <a:p>
            <a:r>
              <a:rPr lang="en-US" altLang="zh-CN" sz="2400" dirty="0">
                <a:solidFill>
                  <a:schemeClr val="bg1"/>
                </a:solidFill>
                <a:latin typeface="黑体" panose="02010609060101010101" charset="-122"/>
                <a:ea typeface="黑体" panose="02010609060101010101" charset="-122"/>
                <a:cs typeface="黑体" panose="02010609060101010101" charset="-122"/>
              </a:rPr>
              <a:t>2026</a:t>
            </a:r>
            <a:r>
              <a:rPr lang="zh-CN" altLang="en-US" sz="2400" dirty="0">
                <a:solidFill>
                  <a:schemeClr val="bg1"/>
                </a:solidFill>
                <a:latin typeface="黑体" panose="02010609060101010101" charset="-122"/>
                <a:ea typeface="黑体" panose="02010609060101010101" charset="-122"/>
                <a:cs typeface="黑体" panose="02010609060101010101" charset="-122"/>
              </a:rPr>
              <a:t>年</a:t>
            </a:r>
            <a:r>
              <a:rPr lang="en-US" altLang="zh-CN" sz="2400" dirty="0">
                <a:solidFill>
                  <a:schemeClr val="bg1"/>
                </a:solidFill>
                <a:latin typeface="黑体" panose="02010609060101010101" charset="-122"/>
                <a:ea typeface="黑体" panose="02010609060101010101" charset="-122"/>
                <a:cs typeface="黑体" panose="02010609060101010101" charset="-122"/>
              </a:rPr>
              <a:t>1</a:t>
            </a:r>
            <a:r>
              <a:rPr lang="zh-CN" altLang="en-US" sz="2400" dirty="0">
                <a:solidFill>
                  <a:schemeClr val="bg1"/>
                </a:solidFill>
                <a:latin typeface="黑体" panose="02010609060101010101" charset="-122"/>
                <a:ea typeface="黑体" panose="02010609060101010101" charset="-122"/>
                <a:cs typeface="黑体" panose="02010609060101010101" charset="-122"/>
              </a:rPr>
              <a:t>月</a:t>
            </a:r>
            <a:r>
              <a:rPr lang="en-US" altLang="zh-CN" sz="2400" dirty="0">
                <a:solidFill>
                  <a:schemeClr val="bg1"/>
                </a:solidFill>
                <a:latin typeface="黑体" panose="02010609060101010101" charset="-122"/>
                <a:ea typeface="黑体" panose="02010609060101010101" charset="-122"/>
                <a:cs typeface="黑体" panose="02010609060101010101" charset="-122"/>
              </a:rPr>
              <a:t>16</a:t>
            </a:r>
            <a:r>
              <a:rPr lang="zh-CN" altLang="en-US" sz="2400" dirty="0">
                <a:solidFill>
                  <a:schemeClr val="bg1"/>
                </a:solidFill>
                <a:latin typeface="黑体" panose="02010609060101010101" charset="-122"/>
                <a:ea typeface="黑体" panose="02010609060101010101" charset="-122"/>
                <a:cs typeface="黑体" panose="02010609060101010101" charset="-122"/>
              </a:rPr>
              <a:t>日</a:t>
            </a:r>
          </a:p>
        </p:txBody>
      </p:sp>
    </p:spTree>
    <p:extLst>
      <p:ext uri="{BB962C8B-B14F-4D97-AF65-F5344CB8AC3E}">
        <p14:creationId xmlns:p14="http://schemas.microsoft.com/office/powerpoint/2010/main" val="34970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83510" y="-2666999"/>
            <a:ext cx="6858000" cy="12192002"/>
          </a:xfrm>
          <a:prstGeom prst="rect">
            <a:avLst/>
          </a:prstGeom>
          <a:solidFill>
            <a:srgbClr val="55B7B7"/>
          </a:solidFill>
        </p:spPr>
      </p:pic>
      <p:sp>
        <p:nvSpPr>
          <p:cNvPr id="9" name="矩形 8"/>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sp>
        <p:nvSpPr>
          <p:cNvPr id="2" name="文本框 1">
            <a:extLst>
              <a:ext uri="{FF2B5EF4-FFF2-40B4-BE49-F238E27FC236}">
                <a16:creationId xmlns:a16="http://schemas.microsoft.com/office/drawing/2014/main" id="{E913E7F9-DF33-4A2A-8974-AAF414E820D4}"/>
              </a:ext>
            </a:extLst>
          </p:cNvPr>
          <p:cNvSpPr txBox="1"/>
          <p:nvPr/>
        </p:nvSpPr>
        <p:spPr>
          <a:xfrm>
            <a:off x="1778350" y="2144110"/>
            <a:ext cx="8607973" cy="1323439"/>
          </a:xfrm>
          <a:prstGeom prst="rect">
            <a:avLst/>
          </a:prstGeom>
          <a:noFill/>
        </p:spPr>
        <p:txBody>
          <a:bodyPr wrap="square" rtlCol="0">
            <a:spAutoFit/>
          </a:bodyPr>
          <a:lstStyle/>
          <a:p>
            <a:pPr algn="ctr"/>
            <a:r>
              <a:rPr lang="zh-CN" altLang="zh-CN" sz="4000" dirty="0">
                <a:solidFill>
                  <a:srgbClr val="CF7F9F"/>
                </a:solidFill>
                <a:latin typeface="黑体" panose="02010609060101010101" pitchFamily="49" charset="-122"/>
                <a:ea typeface="黑体" panose="02010609060101010101" pitchFamily="49" charset="-122"/>
              </a:rPr>
              <a:t>基于</a:t>
            </a:r>
            <a:r>
              <a:rPr lang="en-US" altLang="zh-CN" sz="4000" dirty="0">
                <a:solidFill>
                  <a:srgbClr val="CF7F9F"/>
                </a:solidFill>
                <a:latin typeface="黑体" panose="02010609060101010101" pitchFamily="49" charset="-122"/>
                <a:ea typeface="黑体" panose="02010609060101010101" pitchFamily="49" charset="-122"/>
              </a:rPr>
              <a:t> </a:t>
            </a:r>
            <a:r>
              <a:rPr lang="en-US" altLang="zh-CN" sz="4000" dirty="0" err="1">
                <a:solidFill>
                  <a:srgbClr val="CF7F9F"/>
                </a:solidFill>
                <a:latin typeface="黑体" panose="02010609060101010101" pitchFamily="49" charset="-122"/>
                <a:ea typeface="黑体" panose="02010609060101010101" pitchFamily="49" charset="-122"/>
              </a:rPr>
              <a:t>Mujoco</a:t>
            </a:r>
            <a:r>
              <a:rPr lang="en-US" altLang="zh-CN" sz="4000" dirty="0">
                <a:solidFill>
                  <a:srgbClr val="CF7F9F"/>
                </a:solidFill>
                <a:latin typeface="黑体" panose="02010609060101010101" pitchFamily="49" charset="-122"/>
                <a:ea typeface="黑体" panose="02010609060101010101" pitchFamily="49" charset="-122"/>
              </a:rPr>
              <a:t> </a:t>
            </a:r>
            <a:r>
              <a:rPr lang="zh-CN" altLang="zh-CN" sz="4000" dirty="0">
                <a:solidFill>
                  <a:srgbClr val="CF7F9F"/>
                </a:solidFill>
                <a:latin typeface="黑体" panose="02010609060101010101" pitchFamily="49" charset="-122"/>
                <a:ea typeface="黑体" panose="02010609060101010101" pitchFamily="49" charset="-122"/>
              </a:rPr>
              <a:t>的可变形物体实时触摸建模和仿真系统</a:t>
            </a:r>
            <a:endParaRPr lang="zh-CN" altLang="en-US" sz="4000" dirty="0">
              <a:solidFill>
                <a:srgbClr val="CF7F9F"/>
              </a:solidFill>
              <a:latin typeface="黑体" panose="02010609060101010101" pitchFamily="49" charset="-122"/>
              <a:ea typeface="黑体" panose="02010609060101010101" pitchFamily="49" charset="-122"/>
            </a:endParaRPr>
          </a:p>
        </p:txBody>
      </p:sp>
      <p:sp>
        <p:nvSpPr>
          <p:cNvPr id="3" name="文本框 2">
            <a:extLst>
              <a:ext uri="{FF2B5EF4-FFF2-40B4-BE49-F238E27FC236}">
                <a16:creationId xmlns:a16="http://schemas.microsoft.com/office/drawing/2014/main" id="{F316C180-7371-0B28-155F-2389A87977A0}"/>
              </a:ext>
            </a:extLst>
          </p:cNvPr>
          <p:cNvSpPr txBox="1"/>
          <p:nvPr/>
        </p:nvSpPr>
        <p:spPr>
          <a:xfrm>
            <a:off x="3214808" y="4244077"/>
            <a:ext cx="5795404" cy="369332"/>
          </a:xfrm>
          <a:prstGeom prst="rect">
            <a:avLst/>
          </a:prstGeom>
          <a:noFill/>
        </p:spPr>
        <p:txBody>
          <a:bodyPr wrap="square" rtlCol="0">
            <a:spAutoFit/>
          </a:bodyPr>
          <a:lstStyle/>
          <a:p>
            <a:r>
              <a:rPr lang="zh-CN" altLang="en-US" dirty="0">
                <a:solidFill>
                  <a:srgbClr val="CF7F9F"/>
                </a:solidFill>
              </a:rPr>
              <a:t>指导老师：</a:t>
            </a:r>
            <a:r>
              <a:rPr lang="en-US" altLang="zh-CN" dirty="0">
                <a:solidFill>
                  <a:srgbClr val="CF7F9F"/>
                </a:solidFill>
              </a:rPr>
              <a:t>XXX                                   </a:t>
            </a:r>
            <a:r>
              <a:rPr lang="zh-CN" altLang="en-US" dirty="0">
                <a:solidFill>
                  <a:srgbClr val="CF7F9F"/>
                </a:solidFill>
              </a:rPr>
              <a:t>答辩人：</a:t>
            </a:r>
            <a:r>
              <a:rPr lang="en-US" altLang="zh-CN" dirty="0">
                <a:solidFill>
                  <a:srgbClr val="CF7F9F"/>
                </a:solidFill>
              </a:rPr>
              <a:t>xxx</a:t>
            </a:r>
            <a:endParaRPr lang="zh-CN" altLang="en-US" dirty="0">
              <a:solidFill>
                <a:srgbClr val="CF7F9F"/>
              </a:solidFill>
            </a:endParaRPr>
          </a:p>
        </p:txBody>
      </p:sp>
      <p:sp>
        <p:nvSpPr>
          <p:cNvPr id="4" name="文本框 3">
            <a:extLst>
              <a:ext uri="{FF2B5EF4-FFF2-40B4-BE49-F238E27FC236}">
                <a16:creationId xmlns:a16="http://schemas.microsoft.com/office/drawing/2014/main" id="{F0AD9BB3-181C-08B5-4BC0-0082E74585FB}"/>
              </a:ext>
            </a:extLst>
          </p:cNvPr>
          <p:cNvSpPr txBox="1"/>
          <p:nvPr/>
        </p:nvSpPr>
        <p:spPr>
          <a:xfrm>
            <a:off x="5202620" y="4680108"/>
            <a:ext cx="1759432" cy="369332"/>
          </a:xfrm>
          <a:prstGeom prst="rect">
            <a:avLst/>
          </a:prstGeom>
          <a:noFill/>
        </p:spPr>
        <p:txBody>
          <a:bodyPr wrap="square" rtlCol="0">
            <a:spAutoFit/>
          </a:bodyPr>
          <a:lstStyle/>
          <a:p>
            <a:r>
              <a:rPr lang="en-US" altLang="zh-CN" dirty="0">
                <a:solidFill>
                  <a:srgbClr val="DFAAC0"/>
                </a:solidFill>
              </a:rPr>
              <a:t>2026</a:t>
            </a:r>
            <a:r>
              <a:rPr lang="zh-CN" altLang="en-US" dirty="0">
                <a:solidFill>
                  <a:srgbClr val="DFAAC0"/>
                </a:solidFill>
              </a:rPr>
              <a:t>年</a:t>
            </a:r>
            <a:r>
              <a:rPr lang="en-US" altLang="zh-CN" dirty="0">
                <a:solidFill>
                  <a:srgbClr val="DFAAC0"/>
                </a:solidFill>
              </a:rPr>
              <a:t>1</a:t>
            </a:r>
            <a:r>
              <a:rPr lang="zh-CN" altLang="en-US" dirty="0">
                <a:solidFill>
                  <a:srgbClr val="DFAAC0"/>
                </a:solidFill>
              </a:rPr>
              <a:t>月</a:t>
            </a:r>
            <a:r>
              <a:rPr lang="en-US" altLang="zh-CN" dirty="0">
                <a:solidFill>
                  <a:srgbClr val="DFAAC0"/>
                </a:solidFill>
              </a:rPr>
              <a:t>16</a:t>
            </a:r>
            <a:r>
              <a:rPr lang="zh-CN" altLang="en-US" dirty="0">
                <a:solidFill>
                  <a:srgbClr val="DFAAC0"/>
                </a:solidFill>
              </a:rPr>
              <a:t>日</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a:extLst>
              <a:ext uri="{FF2B5EF4-FFF2-40B4-BE49-F238E27FC236}">
                <a16:creationId xmlns:a16="http://schemas.microsoft.com/office/drawing/2014/main" id="{E5D466D0-5419-3C78-0F5E-5D3A0F27DB50}"/>
              </a:ext>
            </a:extLst>
          </p:cNvPr>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6999" y="-2659873"/>
            <a:ext cx="6858000" cy="12192002"/>
          </a:xfrm>
          <a:prstGeom prst="rect">
            <a:avLst/>
          </a:prstGeom>
          <a:solidFill>
            <a:srgbClr val="55B7B7"/>
          </a:solidFill>
        </p:spPr>
      </p:pic>
      <p:sp>
        <p:nvSpPr>
          <p:cNvPr id="3" name="TextBox 16">
            <a:extLst>
              <a:ext uri="{FF2B5EF4-FFF2-40B4-BE49-F238E27FC236}">
                <a16:creationId xmlns:a16="http://schemas.microsoft.com/office/drawing/2014/main" id="{149F398B-30D5-68FD-24D5-0DAA8C820DF3}"/>
              </a:ext>
            </a:extLst>
          </p:cNvPr>
          <p:cNvSpPr txBox="1"/>
          <p:nvPr/>
        </p:nvSpPr>
        <p:spPr>
          <a:xfrm>
            <a:off x="6339048" y="1393627"/>
            <a:ext cx="522900" cy="523220"/>
          </a:xfrm>
          <a:prstGeom prst="rect">
            <a:avLst/>
          </a:prstGeom>
          <a:noFill/>
        </p:spPr>
        <p:txBody>
          <a:bodyPr wrap="none" rtlCol="0">
            <a:spAutoFit/>
          </a:bodyPr>
          <a:lstStyle/>
          <a:p>
            <a:r>
              <a:rPr lang="en-US" altLang="zh-CN" sz="2800" dirty="0">
                <a:solidFill>
                  <a:schemeClr val="bg1">
                    <a:lumMod val="50000"/>
                  </a:schemeClr>
                </a:solidFill>
                <a:latin typeface="微软雅黑 Light" panose="020B0502040204020203" pitchFamily="34" charset="-122"/>
                <a:ea typeface="微软雅黑 Light" panose="020B0502040204020203" pitchFamily="34" charset="-122"/>
              </a:rPr>
              <a:t>01</a:t>
            </a:r>
            <a:endParaRPr lang="zh-CN" altLang="en-US" sz="28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 name="TextBox 17">
            <a:extLst>
              <a:ext uri="{FF2B5EF4-FFF2-40B4-BE49-F238E27FC236}">
                <a16:creationId xmlns:a16="http://schemas.microsoft.com/office/drawing/2014/main" id="{FA45194A-7195-8513-7BBA-AF7B1548CF39}"/>
              </a:ext>
            </a:extLst>
          </p:cNvPr>
          <p:cNvSpPr txBox="1"/>
          <p:nvPr/>
        </p:nvSpPr>
        <p:spPr>
          <a:xfrm>
            <a:off x="7173969" y="1470571"/>
            <a:ext cx="1800493" cy="369332"/>
          </a:xfrm>
          <a:prstGeom prst="rect">
            <a:avLst/>
          </a:prstGeom>
          <a:noFill/>
        </p:spPr>
        <p:txBody>
          <a:bodyPr wrap="none" rtlCol="0">
            <a:spAutoFit/>
          </a:bodyPr>
          <a:lstStyle/>
          <a:p>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研究背景与问题</a:t>
            </a:r>
          </a:p>
        </p:txBody>
      </p:sp>
      <p:grpSp>
        <p:nvGrpSpPr>
          <p:cNvPr id="5" name="组合 4">
            <a:extLst>
              <a:ext uri="{FF2B5EF4-FFF2-40B4-BE49-F238E27FC236}">
                <a16:creationId xmlns:a16="http://schemas.microsoft.com/office/drawing/2014/main" id="{808F5C88-CFBF-3067-D766-2DFA61DF8A02}"/>
              </a:ext>
            </a:extLst>
          </p:cNvPr>
          <p:cNvGrpSpPr/>
          <p:nvPr/>
        </p:nvGrpSpPr>
        <p:grpSpPr>
          <a:xfrm>
            <a:off x="6640097" y="1448586"/>
            <a:ext cx="307149" cy="413301"/>
            <a:chOff x="4211960" y="594800"/>
            <a:chExt cx="374475" cy="662059"/>
          </a:xfrm>
        </p:grpSpPr>
        <p:sp>
          <p:nvSpPr>
            <p:cNvPr id="6" name="直角三角形 5">
              <a:extLst>
                <a:ext uri="{FF2B5EF4-FFF2-40B4-BE49-F238E27FC236}">
                  <a16:creationId xmlns:a16="http://schemas.microsoft.com/office/drawing/2014/main" id="{F029F557-C2C0-7329-C36F-741D08B27F2C}"/>
                </a:ext>
              </a:extLst>
            </p:cNvPr>
            <p:cNvSpPr/>
            <p:nvPr/>
          </p:nvSpPr>
          <p:spPr>
            <a:xfrm rot="16200000">
              <a:off x="4068168" y="738592"/>
              <a:ext cx="662059" cy="3744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a:extLst>
                <a:ext uri="{FF2B5EF4-FFF2-40B4-BE49-F238E27FC236}">
                  <a16:creationId xmlns:a16="http://schemas.microsoft.com/office/drawing/2014/main" id="{906C9B51-70C3-8995-3147-7464674BD288}"/>
                </a:ext>
              </a:extLst>
            </p:cNvPr>
            <p:cNvCxnSpPr>
              <a:stCxn id="6" idx="4"/>
              <a:endCxn id="6" idx="0"/>
            </p:cNvCxnSpPr>
            <p:nvPr/>
          </p:nvCxnSpPr>
          <p:spPr>
            <a:xfrm flipH="1">
              <a:off x="4211960" y="594800"/>
              <a:ext cx="374475" cy="662059"/>
            </a:xfrm>
            <a:prstGeom prst="line">
              <a:avLst/>
            </a:prstGeom>
            <a:ln w="6350" cap="rnd">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11" name="TextBox 21">
            <a:extLst>
              <a:ext uri="{FF2B5EF4-FFF2-40B4-BE49-F238E27FC236}">
                <a16:creationId xmlns:a16="http://schemas.microsoft.com/office/drawing/2014/main" id="{954FC5DC-27FA-C681-856A-23E61A1A7AB5}"/>
              </a:ext>
            </a:extLst>
          </p:cNvPr>
          <p:cNvSpPr txBox="1"/>
          <p:nvPr/>
        </p:nvSpPr>
        <p:spPr>
          <a:xfrm>
            <a:off x="6339048" y="2055079"/>
            <a:ext cx="585417" cy="523220"/>
          </a:xfrm>
          <a:prstGeom prst="rect">
            <a:avLst/>
          </a:prstGeom>
          <a:noFill/>
        </p:spPr>
        <p:txBody>
          <a:bodyPr wrap="none" rtlCol="0">
            <a:spAutoFit/>
          </a:bodyPr>
          <a:lstStyle/>
          <a:p>
            <a:r>
              <a:rPr lang="en-US" altLang="zh-CN" sz="2800" dirty="0">
                <a:solidFill>
                  <a:schemeClr val="bg1">
                    <a:lumMod val="50000"/>
                  </a:schemeClr>
                </a:solidFill>
                <a:latin typeface="微软雅黑 Light" panose="020B0502040204020203" pitchFamily="34" charset="-122"/>
                <a:ea typeface="微软雅黑 Light" panose="020B0502040204020203" pitchFamily="34" charset="-122"/>
              </a:rPr>
              <a:t>02</a:t>
            </a:r>
            <a:endParaRPr lang="zh-CN" altLang="en-US" sz="28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 name="TextBox 22">
            <a:extLst>
              <a:ext uri="{FF2B5EF4-FFF2-40B4-BE49-F238E27FC236}">
                <a16:creationId xmlns:a16="http://schemas.microsoft.com/office/drawing/2014/main" id="{352B91B5-548E-52CC-4D51-453BCD57BA11}"/>
              </a:ext>
            </a:extLst>
          </p:cNvPr>
          <p:cNvSpPr txBox="1"/>
          <p:nvPr/>
        </p:nvSpPr>
        <p:spPr>
          <a:xfrm>
            <a:off x="7173969" y="2132023"/>
            <a:ext cx="2262158" cy="369332"/>
          </a:xfrm>
          <a:prstGeom prst="rect">
            <a:avLst/>
          </a:prstGeom>
          <a:noFill/>
        </p:spPr>
        <p:txBody>
          <a:bodyPr wrap="none" rtlCol="0">
            <a:spAutoFit/>
          </a:bodyPr>
          <a:lstStyle/>
          <a:p>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研究目标与核心工作</a:t>
            </a:r>
          </a:p>
        </p:txBody>
      </p:sp>
      <p:sp>
        <p:nvSpPr>
          <p:cNvPr id="13" name="TextBox 24">
            <a:extLst>
              <a:ext uri="{FF2B5EF4-FFF2-40B4-BE49-F238E27FC236}">
                <a16:creationId xmlns:a16="http://schemas.microsoft.com/office/drawing/2014/main" id="{4C77499D-BB3D-BDE4-CD3D-9E8AFFB7A863}"/>
              </a:ext>
            </a:extLst>
          </p:cNvPr>
          <p:cNvSpPr txBox="1"/>
          <p:nvPr/>
        </p:nvSpPr>
        <p:spPr>
          <a:xfrm>
            <a:off x="6332261" y="2777499"/>
            <a:ext cx="585417" cy="523220"/>
          </a:xfrm>
          <a:prstGeom prst="rect">
            <a:avLst/>
          </a:prstGeom>
          <a:noFill/>
        </p:spPr>
        <p:txBody>
          <a:bodyPr wrap="none" rtlCol="0">
            <a:spAutoFit/>
          </a:bodyPr>
          <a:lstStyle/>
          <a:p>
            <a:r>
              <a:rPr lang="en-US" altLang="zh-CN" sz="2800" dirty="0">
                <a:solidFill>
                  <a:schemeClr val="bg1">
                    <a:lumMod val="50000"/>
                  </a:schemeClr>
                </a:solidFill>
                <a:latin typeface="微软雅黑 Light" panose="020B0502040204020203" pitchFamily="34" charset="-122"/>
                <a:ea typeface="微软雅黑 Light" panose="020B0502040204020203" pitchFamily="34" charset="-122"/>
              </a:rPr>
              <a:t>03</a:t>
            </a:r>
            <a:endParaRPr lang="zh-CN" altLang="en-US" sz="28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4" name="TextBox 25">
            <a:extLst>
              <a:ext uri="{FF2B5EF4-FFF2-40B4-BE49-F238E27FC236}">
                <a16:creationId xmlns:a16="http://schemas.microsoft.com/office/drawing/2014/main" id="{EB82D18E-96F2-7B11-95DF-EA9C5DAE098B}"/>
              </a:ext>
            </a:extLst>
          </p:cNvPr>
          <p:cNvSpPr txBox="1"/>
          <p:nvPr/>
        </p:nvSpPr>
        <p:spPr>
          <a:xfrm>
            <a:off x="7167182" y="2854443"/>
            <a:ext cx="1871025" cy="369332"/>
          </a:xfrm>
          <a:prstGeom prst="rect">
            <a:avLst/>
          </a:prstGeom>
          <a:noFill/>
        </p:spPr>
        <p:txBody>
          <a:bodyPr wrap="none" rtlCol="0">
            <a:spAutoFit/>
          </a:bodyPr>
          <a:lstStyle/>
          <a:p>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实验平台与基础</a:t>
            </a:r>
          </a:p>
        </p:txBody>
      </p:sp>
      <p:sp>
        <p:nvSpPr>
          <p:cNvPr id="15" name="TextBox 27">
            <a:extLst>
              <a:ext uri="{FF2B5EF4-FFF2-40B4-BE49-F238E27FC236}">
                <a16:creationId xmlns:a16="http://schemas.microsoft.com/office/drawing/2014/main" id="{A07D8FE9-B253-F28E-D339-79F5980438DF}"/>
              </a:ext>
            </a:extLst>
          </p:cNvPr>
          <p:cNvSpPr txBox="1"/>
          <p:nvPr/>
        </p:nvSpPr>
        <p:spPr>
          <a:xfrm>
            <a:off x="6339048" y="3438951"/>
            <a:ext cx="590226" cy="523220"/>
          </a:xfrm>
          <a:prstGeom prst="rect">
            <a:avLst/>
          </a:prstGeom>
          <a:noFill/>
        </p:spPr>
        <p:txBody>
          <a:bodyPr wrap="none" rtlCol="0">
            <a:spAutoFit/>
          </a:bodyPr>
          <a:lstStyle/>
          <a:p>
            <a:r>
              <a:rPr lang="en-US" altLang="zh-CN" sz="2800" dirty="0">
                <a:solidFill>
                  <a:schemeClr val="bg1">
                    <a:lumMod val="50000"/>
                  </a:schemeClr>
                </a:solidFill>
                <a:latin typeface="微软雅黑 Light" panose="020B0502040204020203" pitchFamily="34" charset="-122"/>
                <a:ea typeface="微软雅黑 Light" panose="020B0502040204020203" pitchFamily="34" charset="-122"/>
              </a:rPr>
              <a:t>04</a:t>
            </a:r>
            <a:endParaRPr lang="zh-CN" altLang="en-US" sz="28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6" name="TextBox 28">
            <a:extLst>
              <a:ext uri="{FF2B5EF4-FFF2-40B4-BE49-F238E27FC236}">
                <a16:creationId xmlns:a16="http://schemas.microsoft.com/office/drawing/2014/main" id="{C00C7EED-A96A-C08E-69DF-2935B5F7012F}"/>
              </a:ext>
            </a:extLst>
          </p:cNvPr>
          <p:cNvSpPr txBox="1"/>
          <p:nvPr/>
        </p:nvSpPr>
        <p:spPr>
          <a:xfrm>
            <a:off x="7173969" y="3515895"/>
            <a:ext cx="2292551" cy="369332"/>
          </a:xfrm>
          <a:prstGeom prst="rect">
            <a:avLst/>
          </a:prstGeom>
          <a:noFill/>
        </p:spPr>
        <p:txBody>
          <a:bodyPr wrap="none" rtlCol="0">
            <a:spAutoFit/>
          </a:bodyPr>
          <a:lstStyle/>
          <a:p>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系统架构与核心设计</a:t>
            </a:r>
          </a:p>
        </p:txBody>
      </p:sp>
      <p:sp>
        <p:nvSpPr>
          <p:cNvPr id="17" name="TextBox 30">
            <a:extLst>
              <a:ext uri="{FF2B5EF4-FFF2-40B4-BE49-F238E27FC236}">
                <a16:creationId xmlns:a16="http://schemas.microsoft.com/office/drawing/2014/main" id="{1706B80E-E688-A5ED-C630-949132B1E75E}"/>
              </a:ext>
            </a:extLst>
          </p:cNvPr>
          <p:cNvSpPr txBox="1"/>
          <p:nvPr/>
        </p:nvSpPr>
        <p:spPr>
          <a:xfrm>
            <a:off x="6339048" y="4133378"/>
            <a:ext cx="585417" cy="523220"/>
          </a:xfrm>
          <a:prstGeom prst="rect">
            <a:avLst/>
          </a:prstGeom>
          <a:noFill/>
        </p:spPr>
        <p:txBody>
          <a:bodyPr wrap="none" rtlCol="0">
            <a:spAutoFit/>
          </a:bodyPr>
          <a:lstStyle/>
          <a:p>
            <a:r>
              <a:rPr lang="en-US" altLang="zh-CN" sz="2800" dirty="0">
                <a:solidFill>
                  <a:schemeClr val="bg1">
                    <a:lumMod val="50000"/>
                  </a:schemeClr>
                </a:solidFill>
                <a:latin typeface="微软雅黑 Light" panose="020B0502040204020203" pitchFamily="34" charset="-122"/>
                <a:ea typeface="微软雅黑 Light" panose="020B0502040204020203" pitchFamily="34" charset="-122"/>
              </a:rPr>
              <a:t>05</a:t>
            </a:r>
            <a:endParaRPr lang="zh-CN" altLang="en-US" sz="28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8" name="TextBox 31">
            <a:extLst>
              <a:ext uri="{FF2B5EF4-FFF2-40B4-BE49-F238E27FC236}">
                <a16:creationId xmlns:a16="http://schemas.microsoft.com/office/drawing/2014/main" id="{24B73AB6-96F9-F834-6B3E-9F5D1EFA41B4}"/>
              </a:ext>
            </a:extLst>
          </p:cNvPr>
          <p:cNvSpPr txBox="1"/>
          <p:nvPr/>
        </p:nvSpPr>
        <p:spPr>
          <a:xfrm>
            <a:off x="7173969" y="4210322"/>
            <a:ext cx="1569660" cy="369332"/>
          </a:xfrm>
          <a:prstGeom prst="rect">
            <a:avLst/>
          </a:prstGeom>
          <a:noFill/>
        </p:spPr>
        <p:txBody>
          <a:bodyPr wrap="none" rtlCol="0">
            <a:spAutoFit/>
          </a:bodyPr>
          <a:lstStyle/>
          <a:p>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实验设计方案</a:t>
            </a:r>
          </a:p>
        </p:txBody>
      </p:sp>
      <p:grpSp>
        <p:nvGrpSpPr>
          <p:cNvPr id="29" name="组合 28">
            <a:extLst>
              <a:ext uri="{FF2B5EF4-FFF2-40B4-BE49-F238E27FC236}">
                <a16:creationId xmlns:a16="http://schemas.microsoft.com/office/drawing/2014/main" id="{54DAE361-C96D-3310-6BBA-1AAD46D72A96}"/>
              </a:ext>
            </a:extLst>
          </p:cNvPr>
          <p:cNvGrpSpPr/>
          <p:nvPr/>
        </p:nvGrpSpPr>
        <p:grpSpPr>
          <a:xfrm>
            <a:off x="6640097" y="2110038"/>
            <a:ext cx="307149" cy="413301"/>
            <a:chOff x="4211960" y="594800"/>
            <a:chExt cx="374475" cy="662059"/>
          </a:xfrm>
        </p:grpSpPr>
        <p:sp>
          <p:nvSpPr>
            <p:cNvPr id="30" name="直角三角形 29">
              <a:extLst>
                <a:ext uri="{FF2B5EF4-FFF2-40B4-BE49-F238E27FC236}">
                  <a16:creationId xmlns:a16="http://schemas.microsoft.com/office/drawing/2014/main" id="{8D1E3B79-046D-68E9-9225-C5EAC65BE75D}"/>
                </a:ext>
              </a:extLst>
            </p:cNvPr>
            <p:cNvSpPr/>
            <p:nvPr/>
          </p:nvSpPr>
          <p:spPr>
            <a:xfrm rot="16200000">
              <a:off x="4068168" y="738592"/>
              <a:ext cx="662059" cy="3744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连接符 30">
              <a:extLst>
                <a:ext uri="{FF2B5EF4-FFF2-40B4-BE49-F238E27FC236}">
                  <a16:creationId xmlns:a16="http://schemas.microsoft.com/office/drawing/2014/main" id="{EFC5AB12-0F58-650C-52DC-6AC95CA611E4}"/>
                </a:ext>
              </a:extLst>
            </p:cNvPr>
            <p:cNvCxnSpPr>
              <a:cxnSpLocks/>
              <a:stCxn id="30" idx="4"/>
              <a:endCxn id="30" idx="0"/>
            </p:cNvCxnSpPr>
            <p:nvPr/>
          </p:nvCxnSpPr>
          <p:spPr>
            <a:xfrm flipH="1">
              <a:off x="4211960" y="594800"/>
              <a:ext cx="374475" cy="662059"/>
            </a:xfrm>
            <a:prstGeom prst="line">
              <a:avLst/>
            </a:prstGeom>
            <a:ln w="6350" cap="rnd">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2" name="组合 31">
            <a:extLst>
              <a:ext uri="{FF2B5EF4-FFF2-40B4-BE49-F238E27FC236}">
                <a16:creationId xmlns:a16="http://schemas.microsoft.com/office/drawing/2014/main" id="{C7400836-0B13-048D-4106-F2DC554D9017}"/>
              </a:ext>
            </a:extLst>
          </p:cNvPr>
          <p:cNvGrpSpPr/>
          <p:nvPr/>
        </p:nvGrpSpPr>
        <p:grpSpPr>
          <a:xfrm>
            <a:off x="6633310" y="2832458"/>
            <a:ext cx="307149" cy="413301"/>
            <a:chOff x="4211960" y="594800"/>
            <a:chExt cx="374475" cy="662059"/>
          </a:xfrm>
        </p:grpSpPr>
        <p:sp>
          <p:nvSpPr>
            <p:cNvPr id="33" name="直角三角形 32">
              <a:extLst>
                <a:ext uri="{FF2B5EF4-FFF2-40B4-BE49-F238E27FC236}">
                  <a16:creationId xmlns:a16="http://schemas.microsoft.com/office/drawing/2014/main" id="{1A1D54B3-7262-68B0-70BC-D6FD1A3C7260}"/>
                </a:ext>
              </a:extLst>
            </p:cNvPr>
            <p:cNvSpPr/>
            <p:nvPr/>
          </p:nvSpPr>
          <p:spPr>
            <a:xfrm rot="16200000">
              <a:off x="4068168" y="738592"/>
              <a:ext cx="662059" cy="3744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a:extLst>
                <a:ext uri="{FF2B5EF4-FFF2-40B4-BE49-F238E27FC236}">
                  <a16:creationId xmlns:a16="http://schemas.microsoft.com/office/drawing/2014/main" id="{C4ABF129-B296-1F39-D495-6FE26E53C287}"/>
                </a:ext>
              </a:extLst>
            </p:cNvPr>
            <p:cNvCxnSpPr>
              <a:stCxn id="33" idx="4"/>
              <a:endCxn id="33" idx="0"/>
            </p:cNvCxnSpPr>
            <p:nvPr/>
          </p:nvCxnSpPr>
          <p:spPr>
            <a:xfrm flipH="1">
              <a:off x="4211960" y="594800"/>
              <a:ext cx="374475" cy="662059"/>
            </a:xfrm>
            <a:prstGeom prst="line">
              <a:avLst/>
            </a:prstGeom>
            <a:ln w="6350" cap="rnd">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5D23C5BD-E0B6-BA5E-F5C3-42DC7872D613}"/>
              </a:ext>
            </a:extLst>
          </p:cNvPr>
          <p:cNvGrpSpPr/>
          <p:nvPr/>
        </p:nvGrpSpPr>
        <p:grpSpPr>
          <a:xfrm>
            <a:off x="6640097" y="3493910"/>
            <a:ext cx="307149" cy="413301"/>
            <a:chOff x="4211960" y="594800"/>
            <a:chExt cx="374475" cy="662059"/>
          </a:xfrm>
        </p:grpSpPr>
        <p:sp>
          <p:nvSpPr>
            <p:cNvPr id="36" name="直角三角形 35">
              <a:extLst>
                <a:ext uri="{FF2B5EF4-FFF2-40B4-BE49-F238E27FC236}">
                  <a16:creationId xmlns:a16="http://schemas.microsoft.com/office/drawing/2014/main" id="{340D60D6-3E6F-A8FA-A0DB-F84D6DA9DD56}"/>
                </a:ext>
              </a:extLst>
            </p:cNvPr>
            <p:cNvSpPr/>
            <p:nvPr/>
          </p:nvSpPr>
          <p:spPr>
            <a:xfrm rot="16200000">
              <a:off x="4068168" y="738592"/>
              <a:ext cx="662059" cy="3744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a:extLst>
                <a:ext uri="{FF2B5EF4-FFF2-40B4-BE49-F238E27FC236}">
                  <a16:creationId xmlns:a16="http://schemas.microsoft.com/office/drawing/2014/main" id="{EAE7F5F2-9C0C-D867-7536-B00668985524}"/>
                </a:ext>
              </a:extLst>
            </p:cNvPr>
            <p:cNvCxnSpPr>
              <a:stCxn id="36" idx="4"/>
              <a:endCxn id="36" idx="0"/>
            </p:cNvCxnSpPr>
            <p:nvPr/>
          </p:nvCxnSpPr>
          <p:spPr>
            <a:xfrm flipH="1">
              <a:off x="4211960" y="594800"/>
              <a:ext cx="374475" cy="662059"/>
            </a:xfrm>
            <a:prstGeom prst="line">
              <a:avLst/>
            </a:prstGeom>
            <a:ln w="6350" cap="rnd">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1653F1E2-FA98-AD07-1A31-B9747700BE53}"/>
              </a:ext>
            </a:extLst>
          </p:cNvPr>
          <p:cNvGrpSpPr/>
          <p:nvPr/>
        </p:nvGrpSpPr>
        <p:grpSpPr>
          <a:xfrm>
            <a:off x="6640097" y="4188337"/>
            <a:ext cx="307149" cy="413301"/>
            <a:chOff x="4211960" y="594800"/>
            <a:chExt cx="374475" cy="662059"/>
          </a:xfrm>
        </p:grpSpPr>
        <p:sp>
          <p:nvSpPr>
            <p:cNvPr id="39" name="直角三角形 38">
              <a:extLst>
                <a:ext uri="{FF2B5EF4-FFF2-40B4-BE49-F238E27FC236}">
                  <a16:creationId xmlns:a16="http://schemas.microsoft.com/office/drawing/2014/main" id="{1EEFAF39-8ABC-1FA0-650F-E52036C636F6}"/>
                </a:ext>
              </a:extLst>
            </p:cNvPr>
            <p:cNvSpPr/>
            <p:nvPr/>
          </p:nvSpPr>
          <p:spPr>
            <a:xfrm rot="16200000">
              <a:off x="4068168" y="738592"/>
              <a:ext cx="662059" cy="3744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0" name="直接连接符 39">
              <a:extLst>
                <a:ext uri="{FF2B5EF4-FFF2-40B4-BE49-F238E27FC236}">
                  <a16:creationId xmlns:a16="http://schemas.microsoft.com/office/drawing/2014/main" id="{E3E81259-CE09-818B-0C88-E17E1E9C20D8}"/>
                </a:ext>
              </a:extLst>
            </p:cNvPr>
            <p:cNvCxnSpPr>
              <a:stCxn id="39" idx="4"/>
              <a:endCxn id="39" idx="0"/>
            </p:cNvCxnSpPr>
            <p:nvPr/>
          </p:nvCxnSpPr>
          <p:spPr>
            <a:xfrm flipH="1">
              <a:off x="4211960" y="594800"/>
              <a:ext cx="374475" cy="662059"/>
            </a:xfrm>
            <a:prstGeom prst="line">
              <a:avLst/>
            </a:prstGeom>
            <a:ln w="6350" cap="rnd">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1" name="TextBox 30">
            <a:extLst>
              <a:ext uri="{FF2B5EF4-FFF2-40B4-BE49-F238E27FC236}">
                <a16:creationId xmlns:a16="http://schemas.microsoft.com/office/drawing/2014/main" id="{48A66E4A-C677-DC57-C48C-82AA5A38424E}"/>
              </a:ext>
            </a:extLst>
          </p:cNvPr>
          <p:cNvSpPr txBox="1"/>
          <p:nvPr/>
        </p:nvSpPr>
        <p:spPr>
          <a:xfrm>
            <a:off x="6339048" y="4750860"/>
            <a:ext cx="585417" cy="523220"/>
          </a:xfrm>
          <a:prstGeom prst="rect">
            <a:avLst/>
          </a:prstGeom>
          <a:noFill/>
        </p:spPr>
        <p:txBody>
          <a:bodyPr wrap="none" rtlCol="0">
            <a:spAutoFit/>
          </a:bodyPr>
          <a:lstStyle/>
          <a:p>
            <a:r>
              <a:rPr lang="en-US" altLang="zh-CN" sz="2800" dirty="0">
                <a:solidFill>
                  <a:schemeClr val="bg1">
                    <a:lumMod val="50000"/>
                  </a:schemeClr>
                </a:solidFill>
                <a:latin typeface="微软雅黑 Light" panose="020B0502040204020203" pitchFamily="34" charset="-122"/>
                <a:ea typeface="微软雅黑 Light" panose="020B0502040204020203" pitchFamily="34" charset="-122"/>
              </a:rPr>
              <a:t>06</a:t>
            </a:r>
            <a:endParaRPr lang="zh-CN" altLang="en-US" sz="28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2" name="TextBox 31">
            <a:extLst>
              <a:ext uri="{FF2B5EF4-FFF2-40B4-BE49-F238E27FC236}">
                <a16:creationId xmlns:a16="http://schemas.microsoft.com/office/drawing/2014/main" id="{878E7F5A-F473-5E69-2E47-D29EF488EC32}"/>
              </a:ext>
            </a:extLst>
          </p:cNvPr>
          <p:cNvSpPr txBox="1"/>
          <p:nvPr/>
        </p:nvSpPr>
        <p:spPr>
          <a:xfrm>
            <a:off x="7173969" y="4827804"/>
            <a:ext cx="1569660" cy="369332"/>
          </a:xfrm>
          <a:prstGeom prst="rect">
            <a:avLst/>
          </a:prstGeom>
          <a:noFill/>
        </p:spPr>
        <p:txBody>
          <a:bodyPr wrap="none" rtlCol="0">
            <a:spAutoFit/>
          </a:bodyPr>
          <a:lstStyle/>
          <a:p>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评估指标体系</a:t>
            </a:r>
          </a:p>
        </p:txBody>
      </p:sp>
      <p:grpSp>
        <p:nvGrpSpPr>
          <p:cNvPr id="43" name="组合 42">
            <a:extLst>
              <a:ext uri="{FF2B5EF4-FFF2-40B4-BE49-F238E27FC236}">
                <a16:creationId xmlns:a16="http://schemas.microsoft.com/office/drawing/2014/main" id="{9AFABDFC-F147-8F5A-0D75-CE9DB0A84295}"/>
              </a:ext>
            </a:extLst>
          </p:cNvPr>
          <p:cNvGrpSpPr/>
          <p:nvPr/>
        </p:nvGrpSpPr>
        <p:grpSpPr>
          <a:xfrm>
            <a:off x="6640097" y="4805819"/>
            <a:ext cx="307149" cy="413301"/>
            <a:chOff x="4211960" y="594800"/>
            <a:chExt cx="374475" cy="662059"/>
          </a:xfrm>
        </p:grpSpPr>
        <p:sp>
          <p:nvSpPr>
            <p:cNvPr id="44" name="直角三角形 43">
              <a:extLst>
                <a:ext uri="{FF2B5EF4-FFF2-40B4-BE49-F238E27FC236}">
                  <a16:creationId xmlns:a16="http://schemas.microsoft.com/office/drawing/2014/main" id="{286491D8-6156-BF44-7F81-890D8D94C69D}"/>
                </a:ext>
              </a:extLst>
            </p:cNvPr>
            <p:cNvSpPr/>
            <p:nvPr/>
          </p:nvSpPr>
          <p:spPr>
            <a:xfrm rot="16200000">
              <a:off x="4068168" y="738592"/>
              <a:ext cx="662059" cy="3744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a:extLst>
                <a:ext uri="{FF2B5EF4-FFF2-40B4-BE49-F238E27FC236}">
                  <a16:creationId xmlns:a16="http://schemas.microsoft.com/office/drawing/2014/main" id="{466309FF-3B43-3BBF-6665-489695677E21}"/>
                </a:ext>
              </a:extLst>
            </p:cNvPr>
            <p:cNvCxnSpPr>
              <a:stCxn id="44" idx="4"/>
              <a:endCxn id="44" idx="0"/>
            </p:cNvCxnSpPr>
            <p:nvPr/>
          </p:nvCxnSpPr>
          <p:spPr>
            <a:xfrm flipH="1">
              <a:off x="4211960" y="594800"/>
              <a:ext cx="374475" cy="662059"/>
            </a:xfrm>
            <a:prstGeom prst="line">
              <a:avLst/>
            </a:prstGeom>
            <a:ln w="6350" cap="rnd">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46" name="TextBox 30">
            <a:extLst>
              <a:ext uri="{FF2B5EF4-FFF2-40B4-BE49-F238E27FC236}">
                <a16:creationId xmlns:a16="http://schemas.microsoft.com/office/drawing/2014/main" id="{78598F16-2A75-6E13-4BA3-81732045E124}"/>
              </a:ext>
            </a:extLst>
          </p:cNvPr>
          <p:cNvSpPr txBox="1"/>
          <p:nvPr/>
        </p:nvSpPr>
        <p:spPr>
          <a:xfrm>
            <a:off x="6339048" y="5332483"/>
            <a:ext cx="579005" cy="523220"/>
          </a:xfrm>
          <a:prstGeom prst="rect">
            <a:avLst/>
          </a:prstGeom>
          <a:noFill/>
        </p:spPr>
        <p:txBody>
          <a:bodyPr wrap="none" rtlCol="0">
            <a:spAutoFit/>
          </a:bodyPr>
          <a:lstStyle/>
          <a:p>
            <a:r>
              <a:rPr lang="en-US" altLang="zh-CN" sz="2800" dirty="0">
                <a:solidFill>
                  <a:schemeClr val="bg1">
                    <a:lumMod val="50000"/>
                  </a:schemeClr>
                </a:solidFill>
                <a:latin typeface="微软雅黑 Light" panose="020B0502040204020203" pitchFamily="34" charset="-122"/>
                <a:ea typeface="微软雅黑 Light" panose="020B0502040204020203" pitchFamily="34" charset="-122"/>
              </a:rPr>
              <a:t>07</a:t>
            </a:r>
            <a:endParaRPr lang="zh-CN" altLang="en-US" sz="28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7" name="TextBox 31">
            <a:extLst>
              <a:ext uri="{FF2B5EF4-FFF2-40B4-BE49-F238E27FC236}">
                <a16:creationId xmlns:a16="http://schemas.microsoft.com/office/drawing/2014/main" id="{FFB4FF02-0385-ADB4-5337-A08F8CAC4911}"/>
              </a:ext>
            </a:extLst>
          </p:cNvPr>
          <p:cNvSpPr txBox="1"/>
          <p:nvPr/>
        </p:nvSpPr>
        <p:spPr>
          <a:xfrm>
            <a:off x="7173969" y="5409427"/>
            <a:ext cx="2262158" cy="369332"/>
          </a:xfrm>
          <a:prstGeom prst="rect">
            <a:avLst/>
          </a:prstGeom>
          <a:noFill/>
        </p:spPr>
        <p:txBody>
          <a:bodyPr wrap="none" rtlCol="0">
            <a:spAutoFit/>
          </a:bodyPr>
          <a:lstStyle/>
          <a:p>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预期结果与论文结构</a:t>
            </a:r>
          </a:p>
        </p:txBody>
      </p:sp>
      <p:grpSp>
        <p:nvGrpSpPr>
          <p:cNvPr id="48" name="组合 47">
            <a:extLst>
              <a:ext uri="{FF2B5EF4-FFF2-40B4-BE49-F238E27FC236}">
                <a16:creationId xmlns:a16="http://schemas.microsoft.com/office/drawing/2014/main" id="{DB26C1B0-2695-3629-2417-1B7B107D33F8}"/>
              </a:ext>
            </a:extLst>
          </p:cNvPr>
          <p:cNvGrpSpPr/>
          <p:nvPr/>
        </p:nvGrpSpPr>
        <p:grpSpPr>
          <a:xfrm>
            <a:off x="6640097" y="5387442"/>
            <a:ext cx="307149" cy="413301"/>
            <a:chOff x="4211960" y="594800"/>
            <a:chExt cx="374475" cy="662059"/>
          </a:xfrm>
        </p:grpSpPr>
        <p:sp>
          <p:nvSpPr>
            <p:cNvPr id="49" name="直角三角形 48">
              <a:extLst>
                <a:ext uri="{FF2B5EF4-FFF2-40B4-BE49-F238E27FC236}">
                  <a16:creationId xmlns:a16="http://schemas.microsoft.com/office/drawing/2014/main" id="{46E4B302-422D-9C4B-5A55-865C9655DD8D}"/>
                </a:ext>
              </a:extLst>
            </p:cNvPr>
            <p:cNvSpPr/>
            <p:nvPr/>
          </p:nvSpPr>
          <p:spPr>
            <a:xfrm rot="16200000">
              <a:off x="4068168" y="738592"/>
              <a:ext cx="662059" cy="374475"/>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B5FDF280-DFB3-CFAA-B47C-98EDEC2912C7}"/>
                </a:ext>
              </a:extLst>
            </p:cNvPr>
            <p:cNvCxnSpPr>
              <a:stCxn id="49" idx="4"/>
              <a:endCxn id="49" idx="0"/>
            </p:cNvCxnSpPr>
            <p:nvPr/>
          </p:nvCxnSpPr>
          <p:spPr>
            <a:xfrm flipH="1">
              <a:off x="4211960" y="594800"/>
              <a:ext cx="374475" cy="662059"/>
            </a:xfrm>
            <a:prstGeom prst="line">
              <a:avLst/>
            </a:prstGeom>
            <a:ln w="6350" cap="rnd">
              <a:solidFill>
                <a:schemeClr val="accent3"/>
              </a:solidFill>
            </a:ln>
          </p:spPr>
          <p:style>
            <a:lnRef idx="1">
              <a:schemeClr val="accent1"/>
            </a:lnRef>
            <a:fillRef idx="0">
              <a:schemeClr val="accent1"/>
            </a:fillRef>
            <a:effectRef idx="0">
              <a:schemeClr val="accent1"/>
            </a:effectRef>
            <a:fontRef idx="minor">
              <a:schemeClr val="tx1"/>
            </a:fontRef>
          </p:style>
        </p:cxnSp>
      </p:grpSp>
      <p:pic>
        <p:nvPicPr>
          <p:cNvPr id="54" name="图片 53" descr="图标&#10;&#10;AI 生成的内容可能不正确。">
            <a:extLst>
              <a:ext uri="{FF2B5EF4-FFF2-40B4-BE49-F238E27FC236}">
                <a16:creationId xmlns:a16="http://schemas.microsoft.com/office/drawing/2014/main" id="{B043BEFC-CED4-F542-D989-DFD7680FF329}"/>
              </a:ext>
            </a:extLst>
          </p:cNvPr>
          <p:cNvPicPr>
            <a:picLocks noChangeAspect="1"/>
          </p:cNvPicPr>
          <p:nvPr/>
        </p:nvPicPr>
        <p:blipFill>
          <a:blip r:embed="rId5"/>
          <a:stretch>
            <a:fillRect/>
          </a:stretch>
        </p:blipFill>
        <p:spPr>
          <a:xfrm>
            <a:off x="2582560" y="1275732"/>
            <a:ext cx="2227688" cy="4503027"/>
          </a:xfrm>
          <a:prstGeom prst="rect">
            <a:avLst/>
          </a:prstGeom>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p:cNvSpPr/>
          <p:nvPr/>
        </p:nvSpPr>
        <p:spPr>
          <a:xfrm>
            <a:off x="760069" y="1530543"/>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grpSp>
        <p:nvGrpSpPr>
          <p:cNvPr id="3" name="组合 2"/>
          <p:cNvGrpSpPr/>
          <p:nvPr/>
        </p:nvGrpSpPr>
        <p:grpSpPr>
          <a:xfrm>
            <a:off x="4503418" y="2705558"/>
            <a:ext cx="3185160" cy="1489710"/>
            <a:chOff x="7093" y="3758"/>
            <a:chExt cx="5016" cy="2346"/>
          </a:xfrm>
          <a:solidFill>
            <a:schemeClr val="bg1">
              <a:alpha val="82000"/>
            </a:schemeClr>
          </a:solidFill>
        </p:grpSpPr>
        <p:sp>
          <p:nvSpPr>
            <p:cNvPr id="14" name="TextBox 8"/>
            <p:cNvSpPr txBox="1"/>
            <p:nvPr/>
          </p:nvSpPr>
          <p:spPr>
            <a:xfrm>
              <a:off x="9057" y="3758"/>
              <a:ext cx="1088" cy="1153"/>
            </a:xfrm>
            <a:prstGeom prst="rect">
              <a:avLst/>
            </a:prstGeom>
            <a:grpFill/>
          </p:spPr>
          <p:txBody>
            <a:bodyPr wrap="none" rtlCol="0">
              <a:spAutoFit/>
            </a:bodyPr>
            <a:lstStyle/>
            <a:p>
              <a:pPr algn="r">
                <a:lnSpc>
                  <a:spcPts val="5000"/>
                </a:lnSpc>
              </a:pPr>
              <a:r>
                <a:rPr lang="zh-CN" altLang="en-US" sz="40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壹</a:t>
              </a:r>
              <a:endParaRPr lang="zh-CN" altLang="en-US" sz="4000" spc="300" dirty="0">
                <a:solidFill>
                  <a:srgbClr val="DFAAC0"/>
                </a:solidFill>
                <a:effectLst>
                  <a:outerShdw blurRad="38100" dist="38100" dir="2700000" algn="tl">
                    <a:srgbClr val="000000">
                      <a:alpha val="43137"/>
                    </a:srgbClr>
                  </a:outerShdw>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15" name="TextBox 1"/>
            <p:cNvSpPr txBox="1"/>
            <p:nvPr/>
          </p:nvSpPr>
          <p:spPr>
            <a:xfrm>
              <a:off x="7093" y="4917"/>
              <a:ext cx="5016" cy="1187"/>
            </a:xfrm>
            <a:prstGeom prst="rect">
              <a:avLst/>
            </a:prstGeom>
            <a:grpFill/>
          </p:spPr>
          <p:txBody>
            <a:bodyPr wrap="square" lIns="0" tIns="0" rIns="0" rtlCol="0">
              <a:spAutoFit/>
            </a:bodyPr>
            <a:lstStyle/>
            <a:p>
              <a:pPr algn="ctr">
                <a:lnSpc>
                  <a:spcPct val="120000"/>
                </a:lnSpc>
              </a:pPr>
              <a:r>
                <a:rPr lang="zh-CN" altLang="en-US" sz="2000" dirty="0">
                  <a:solidFill>
                    <a:srgbClr val="DFAAC0"/>
                  </a:solidFill>
                  <a:ea typeface="阿里巴巴普惠体 R" panose="00020600040101010101" pitchFamily="18" charset="-122"/>
                </a:rPr>
                <a:t>研究背景与问题</a:t>
              </a:r>
            </a:p>
            <a:p>
              <a:pPr algn="ctr">
                <a:lnSpc>
                  <a:spcPct val="120000"/>
                </a:lnSpc>
              </a:pPr>
              <a:endParaRPr lang="en-US" altLang="zh-CN" sz="20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 name="图片 38"/>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p:cNvSpPr txBox="1"/>
          <p:nvPr/>
        </p:nvSpPr>
        <p:spPr>
          <a:xfrm>
            <a:off x="4223911" y="307282"/>
            <a:ext cx="3744178" cy="430887"/>
          </a:xfrm>
          <a:prstGeom prst="rect">
            <a:avLst/>
          </a:prstGeom>
          <a:noFill/>
        </p:spPr>
        <p:txBody>
          <a:bodyPr wrap="square" lIns="0" tIns="0" rIns="0" bIns="0" rtlCol="0" anchor="ctr">
            <a:spAutoFit/>
          </a:bodyPr>
          <a:lstStyle/>
          <a:p>
            <a:pPr algn="ctr"/>
            <a:r>
              <a:rPr lang="zh-CN" altLang="zh-CN" sz="2800" dirty="0">
                <a:solidFill>
                  <a:srgbClr val="CF7F9F"/>
                </a:solidFill>
              </a:rPr>
              <a:t>研究背景与问题</a:t>
            </a:r>
            <a:endParaRPr lang="zh-CN" altLang="zh-CN" sz="2800" dirty="0">
              <a:solidFill>
                <a:srgbClr val="CF7F9F"/>
              </a:solidFill>
              <a:effectLst/>
            </a:endParaRPr>
          </a:p>
        </p:txBody>
      </p:sp>
      <p:grpSp>
        <p:nvGrpSpPr>
          <p:cNvPr id="35" name="组合 34"/>
          <p:cNvGrpSpPr/>
          <p:nvPr/>
        </p:nvGrpSpPr>
        <p:grpSpPr>
          <a:xfrm>
            <a:off x="840658" y="561638"/>
            <a:ext cx="10510685" cy="0"/>
            <a:chOff x="1028775" y="591989"/>
            <a:chExt cx="11086097" cy="0"/>
          </a:xfrm>
        </p:grpSpPr>
        <p:cxnSp>
          <p:nvCxnSpPr>
            <p:cNvPr id="36" name="直接连接符 35"/>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3559593F-D211-FEDF-4BE9-083E350A2E3F}"/>
              </a:ext>
            </a:extLst>
          </p:cNvPr>
          <p:cNvSpPr txBox="1"/>
          <p:nvPr/>
        </p:nvSpPr>
        <p:spPr>
          <a:xfrm>
            <a:off x="1268597" y="1399979"/>
            <a:ext cx="9654803" cy="4613442"/>
          </a:xfrm>
          <a:prstGeom prst="rect">
            <a:avLst/>
          </a:prstGeom>
          <a:noFill/>
        </p:spPr>
        <p:txBody>
          <a:bodyPr wrap="square" rtlCol="0">
            <a:spAutoFit/>
          </a:bodyPr>
          <a:lstStyle/>
          <a:p>
            <a:pPr indent="720000">
              <a:lnSpc>
                <a:spcPct val="150000"/>
              </a:lnSpc>
            </a:pPr>
            <a:r>
              <a:rPr lang="zh-CN" altLang="en-US" dirty="0">
                <a:solidFill>
                  <a:srgbClr val="CF7F9F"/>
                </a:solidFill>
              </a:rPr>
              <a:t>在刚体交互技术已趋成熟的当下，可变形物体仿真（如软组织、柔性材料）尚处于起步阶段，其非线性与时变属性致使建模困难重重，单纯依赖视觉信息难以支撑精细化操控。而触觉交互技术在 </a:t>
            </a:r>
            <a:r>
              <a:rPr lang="en-US" altLang="zh-CN" dirty="0">
                <a:solidFill>
                  <a:srgbClr val="CF7F9F"/>
                </a:solidFill>
              </a:rPr>
              <a:t>VR</a:t>
            </a:r>
            <a:r>
              <a:rPr lang="zh-CN" altLang="en-US" dirty="0">
                <a:solidFill>
                  <a:srgbClr val="CF7F9F"/>
                </a:solidFill>
              </a:rPr>
              <a:t>、医学仿真、机器人操作等领域已成为核心需求，需借助物理仿真与触觉反馈的融合来还原真实触摸体验。随着 </a:t>
            </a:r>
            <a:r>
              <a:rPr lang="en-US" altLang="zh-CN" dirty="0" err="1">
                <a:solidFill>
                  <a:srgbClr val="CF7F9F"/>
                </a:solidFill>
              </a:rPr>
              <a:t>MuJoCo</a:t>
            </a:r>
            <a:r>
              <a:rPr lang="en-US" altLang="zh-CN" dirty="0">
                <a:solidFill>
                  <a:srgbClr val="CF7F9F"/>
                </a:solidFill>
              </a:rPr>
              <a:t> </a:t>
            </a:r>
            <a:r>
              <a:rPr lang="zh-CN" altLang="en-US" dirty="0">
                <a:solidFill>
                  <a:srgbClr val="CF7F9F"/>
                </a:solidFill>
              </a:rPr>
              <a:t>物理引擎、</a:t>
            </a:r>
            <a:r>
              <a:rPr lang="en-US" altLang="zh-CN" dirty="0">
                <a:solidFill>
                  <a:srgbClr val="CF7F9F"/>
                </a:solidFill>
              </a:rPr>
              <a:t>WEART </a:t>
            </a:r>
            <a:r>
              <a:rPr lang="zh-CN" altLang="en-US" dirty="0">
                <a:solidFill>
                  <a:srgbClr val="CF7F9F"/>
                </a:solidFill>
              </a:rPr>
              <a:t>触觉手套等软硬件的发展，为可变形物体的实时触摸建模与仿真提供了技术支撑。然而，当前仍面临核心问题，包括如何在保证系统实时响应的同时精确计算软体接触力并转化为触觉信号以降低传输延时，实现实时性与精度的平衡；视觉信号与触觉信号时空同步不足影响交互连贯性与真实感的多模态协同难题；以及现有研究侧重视觉效果演示，缺乏针对触觉交互过程的定量评估手段，结果难以客观验证的评估体系缺失问题。在此背景下，本选题具有重要价值，既能填补构建视觉、物理运算与力觉反馈协同交互系统的空白，解决可变形物体触摸建模的核心技术瓶颈，又能实现建立物理引擎参数与触觉驱动指令映射关系的技术创新，达成高刷新率、低延时的力觉回路。</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grpSp>
        <p:nvGrpSpPr>
          <p:cNvPr id="3" name="组合 2"/>
          <p:cNvGrpSpPr/>
          <p:nvPr/>
        </p:nvGrpSpPr>
        <p:grpSpPr>
          <a:xfrm>
            <a:off x="4503418" y="2636661"/>
            <a:ext cx="3185160" cy="1487170"/>
            <a:chOff x="7093" y="3758"/>
            <a:chExt cx="5016" cy="2342"/>
          </a:xfrm>
          <a:solidFill>
            <a:schemeClr val="bg1">
              <a:alpha val="82000"/>
            </a:schemeClr>
          </a:solidFill>
        </p:grpSpPr>
        <p:sp>
          <p:nvSpPr>
            <p:cNvPr id="14" name="TextBox 8"/>
            <p:cNvSpPr txBox="1"/>
            <p:nvPr/>
          </p:nvSpPr>
          <p:spPr>
            <a:xfrm>
              <a:off x="8997" y="3758"/>
              <a:ext cx="1148" cy="1153"/>
            </a:xfrm>
            <a:prstGeom prst="rect">
              <a:avLst/>
            </a:prstGeom>
            <a:grpFill/>
          </p:spPr>
          <p:txBody>
            <a:bodyPr wrap="none" rtlCol="0">
              <a:spAutoFit/>
            </a:bodyPr>
            <a:lstStyle/>
            <a:p>
              <a:pPr algn="r">
                <a:lnSpc>
                  <a:spcPts val="5000"/>
                </a:lnSpc>
              </a:pPr>
              <a:r>
                <a:rPr lang="zh-CN" altLang="en-US" sz="4000" spc="300" dirty="0">
                  <a:solidFill>
                    <a:srgbClr val="DFAAC0"/>
                  </a:solidFill>
                  <a:effectLst>
                    <a:outerShdw blurRad="38100" dist="38100" dir="2700000" algn="tl">
                      <a:srgbClr val="000000">
                        <a:alpha val="43137"/>
                      </a:srgbClr>
                    </a:outerShdw>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贰</a:t>
              </a:r>
            </a:p>
          </p:txBody>
        </p:sp>
        <p:sp>
          <p:nvSpPr>
            <p:cNvPr id="15" name="TextBox 1"/>
            <p:cNvSpPr txBox="1"/>
            <p:nvPr/>
          </p:nvSpPr>
          <p:spPr>
            <a:xfrm>
              <a:off x="7093" y="4917"/>
              <a:ext cx="5016" cy="1183"/>
            </a:xfrm>
            <a:prstGeom prst="rect">
              <a:avLst/>
            </a:prstGeom>
            <a:grpFill/>
          </p:spPr>
          <p:txBody>
            <a:bodyPr wrap="square" lIns="0" tIns="0" rIns="0" rtlCol="0">
              <a:spAutoFit/>
            </a:bodyPr>
            <a:lstStyle/>
            <a:p>
              <a:pPr algn="ctr">
                <a:lnSpc>
                  <a:spcPct val="120000"/>
                </a:lnSpc>
              </a:pPr>
              <a:r>
                <a:rPr lang="zh-CN" altLang="en-US" sz="2000" dirty="0">
                  <a:solidFill>
                    <a:srgbClr val="DFAAC0"/>
                  </a:solidFill>
                  <a:ea typeface="阿里巴巴普惠体 R" panose="00020600040101010101" pitchFamily="18" charset="-122"/>
                </a:rPr>
                <a:t>研究目标与核心工作</a:t>
              </a:r>
              <a:endParaRPr lang="en-US" altLang="zh-CN" sz="2000" dirty="0">
                <a:solidFill>
                  <a:srgbClr val="DFAAC0"/>
                </a:solidFill>
                <a:ea typeface="阿里巴巴普惠体 R" panose="00020600040101010101" pitchFamily="18" charset="-122"/>
              </a:endParaRPr>
            </a:p>
            <a:p>
              <a:pPr algn="ctr">
                <a:lnSpc>
                  <a:spcPct val="120000"/>
                </a:lnSpc>
              </a:pPr>
              <a:endParaRPr lang="zh-CN" altLang="en-US" sz="2000" dirty="0">
                <a:solidFill>
                  <a:srgbClr val="DFAAC0"/>
                </a:solidFill>
                <a:ea typeface="阿里巴巴普惠体 R" panose="00020600040101010101" pitchFamily="18" charset="-122"/>
              </a:endParaRPr>
            </a:p>
          </p:txBody>
        </p:sp>
      </p:gr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0340-4391-33F2-CB90-CD342BD02153}"/>
            </a:ext>
          </a:extLst>
        </p:cNvPr>
        <p:cNvGrpSpPr/>
        <p:nvPr/>
      </p:nvGrpSpPr>
      <p:grpSpPr>
        <a:xfrm>
          <a:off x="0" y="0"/>
          <a:ext cx="0" cy="0"/>
          <a:chOff x="0" y="0"/>
          <a:chExt cx="0" cy="0"/>
        </a:xfrm>
      </p:grpSpPr>
      <p:pic>
        <p:nvPicPr>
          <p:cNvPr id="39" name="图片 38">
            <a:extLst>
              <a:ext uri="{FF2B5EF4-FFF2-40B4-BE49-F238E27FC236}">
                <a16:creationId xmlns:a16="http://schemas.microsoft.com/office/drawing/2014/main" id="{AF1A6658-F19F-3C68-36C1-CA4992C0923A}"/>
              </a:ext>
            </a:extLst>
          </p:cNvPr>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3367022" y="-2197962"/>
            <a:ext cx="5457962" cy="12192002"/>
          </a:xfrm>
          <a:prstGeom prst="rect">
            <a:avLst/>
          </a:prstGeom>
        </p:spPr>
      </p:pic>
      <p:sp>
        <p:nvSpPr>
          <p:cNvPr id="34" name="TextBox 8">
            <a:extLst>
              <a:ext uri="{FF2B5EF4-FFF2-40B4-BE49-F238E27FC236}">
                <a16:creationId xmlns:a16="http://schemas.microsoft.com/office/drawing/2014/main" id="{5EED9DBD-8B31-C1A3-22A6-42D6DEB765E4}"/>
              </a:ext>
            </a:extLst>
          </p:cNvPr>
          <p:cNvSpPr txBox="1"/>
          <p:nvPr/>
        </p:nvSpPr>
        <p:spPr>
          <a:xfrm>
            <a:off x="4223911" y="-123605"/>
            <a:ext cx="3744178" cy="1292662"/>
          </a:xfrm>
          <a:prstGeom prst="rect">
            <a:avLst/>
          </a:prstGeom>
          <a:noFill/>
        </p:spPr>
        <p:txBody>
          <a:bodyPr wrap="square" lIns="0" tIns="0" rIns="0" bIns="0" rtlCol="0" anchor="ctr">
            <a:spAutoFit/>
          </a:bodyPr>
          <a:lstStyle/>
          <a:p>
            <a:pPr algn="ctr"/>
            <a:endParaRPr lang="en-US" altLang="zh-CN" sz="2800" dirty="0">
              <a:solidFill>
                <a:srgbClr val="CF7F9F"/>
              </a:solidFill>
            </a:endParaRPr>
          </a:p>
          <a:p>
            <a:pPr algn="ctr"/>
            <a:r>
              <a:rPr lang="zh-CN" altLang="zh-CN" sz="2800" dirty="0">
                <a:solidFill>
                  <a:srgbClr val="CF7F9F"/>
                </a:solidFill>
              </a:rPr>
              <a:t>研究目标与核心工作</a:t>
            </a:r>
          </a:p>
          <a:p>
            <a:pPr algn="ctr"/>
            <a:endParaRPr lang="zh-CN" altLang="zh-CN" sz="2800" dirty="0">
              <a:solidFill>
                <a:srgbClr val="CF7F9F"/>
              </a:solidFill>
              <a:effectLst/>
            </a:endParaRPr>
          </a:p>
        </p:txBody>
      </p:sp>
      <p:grpSp>
        <p:nvGrpSpPr>
          <p:cNvPr id="35" name="组合 34">
            <a:extLst>
              <a:ext uri="{FF2B5EF4-FFF2-40B4-BE49-F238E27FC236}">
                <a16:creationId xmlns:a16="http://schemas.microsoft.com/office/drawing/2014/main" id="{16E7123D-3AD0-BB7B-86F0-B6F5D5980C2D}"/>
              </a:ext>
            </a:extLst>
          </p:cNvPr>
          <p:cNvGrpSpPr/>
          <p:nvPr/>
        </p:nvGrpSpPr>
        <p:grpSpPr>
          <a:xfrm>
            <a:off x="840658" y="561638"/>
            <a:ext cx="10510685" cy="0"/>
            <a:chOff x="1028775" y="591989"/>
            <a:chExt cx="11086097" cy="0"/>
          </a:xfrm>
        </p:grpSpPr>
        <p:cxnSp>
          <p:nvCxnSpPr>
            <p:cNvPr id="36" name="直接连接符 35">
              <a:extLst>
                <a:ext uri="{FF2B5EF4-FFF2-40B4-BE49-F238E27FC236}">
                  <a16:creationId xmlns:a16="http://schemas.microsoft.com/office/drawing/2014/main" id="{6E936E2D-DE12-5885-78FF-638E566E7D38}"/>
                </a:ext>
              </a:extLst>
            </p:cNvPr>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DCC4993-999A-D320-B8AF-2DBE23D992E0}"/>
                </a:ext>
              </a:extLst>
            </p:cNvPr>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415CF776-BCAE-4FF7-B6F9-6AF9AFE005AE}"/>
              </a:ext>
            </a:extLst>
          </p:cNvPr>
          <p:cNvSpPr txBox="1"/>
          <p:nvPr/>
        </p:nvSpPr>
        <p:spPr>
          <a:xfrm>
            <a:off x="1268597" y="1399979"/>
            <a:ext cx="9654803" cy="3447098"/>
          </a:xfrm>
          <a:prstGeom prst="rect">
            <a:avLst/>
          </a:prstGeom>
          <a:noFill/>
        </p:spPr>
        <p:txBody>
          <a:bodyPr wrap="square" rtlCol="0">
            <a:spAutoFit/>
          </a:bodyPr>
          <a:lstStyle/>
          <a:p>
            <a:r>
              <a:rPr lang="zh-CN" altLang="en-US" sz="2800" dirty="0">
                <a:solidFill>
                  <a:srgbClr val="CF7F9F"/>
                </a:solidFill>
              </a:rPr>
              <a:t>核心研究目标</a:t>
            </a:r>
          </a:p>
          <a:p>
            <a:pPr marL="285750" indent="-285750">
              <a:buFont typeface="Arial" panose="020B0604020202020204" pitchFamily="34" charset="0"/>
              <a:buChar char="•"/>
            </a:pPr>
            <a:r>
              <a:rPr lang="zh-CN" altLang="en-US" dirty="0">
                <a:solidFill>
                  <a:srgbClr val="CF7F9F"/>
                </a:solidFill>
              </a:rPr>
              <a:t>构建一套基于 </a:t>
            </a:r>
            <a:r>
              <a:rPr lang="en-US" altLang="zh-CN" dirty="0" err="1">
                <a:solidFill>
                  <a:srgbClr val="CF7F9F"/>
                </a:solidFill>
              </a:rPr>
              <a:t>MuJoCo</a:t>
            </a:r>
            <a:r>
              <a:rPr lang="en-US" altLang="zh-CN" dirty="0">
                <a:solidFill>
                  <a:srgbClr val="CF7F9F"/>
                </a:solidFill>
              </a:rPr>
              <a:t> </a:t>
            </a:r>
            <a:r>
              <a:rPr lang="zh-CN" altLang="en-US" dirty="0">
                <a:solidFill>
                  <a:srgbClr val="CF7F9F"/>
                </a:solidFill>
              </a:rPr>
              <a:t>的可变形物体实时触摸仿真系统，实现接触力计算、触觉信号转化与多模态协同交互。</a:t>
            </a:r>
          </a:p>
          <a:p>
            <a:pPr marL="285750" indent="-285750">
              <a:buFont typeface="Arial" panose="020B0604020202020204" pitchFamily="34" charset="0"/>
              <a:buChar char="•"/>
            </a:pPr>
            <a:r>
              <a:rPr lang="zh-CN" altLang="en-US" dirty="0">
                <a:solidFill>
                  <a:srgbClr val="CF7F9F"/>
                </a:solidFill>
              </a:rPr>
              <a:t>验证触觉反馈对操作稳定性与任务完成质量的提升作用，建立标准化的定量评估流程。</a:t>
            </a:r>
            <a:endParaRPr lang="en-US" altLang="zh-CN" dirty="0">
              <a:solidFill>
                <a:srgbClr val="CF7F9F"/>
              </a:solidFill>
            </a:endParaRPr>
          </a:p>
          <a:p>
            <a:endParaRPr lang="zh-CN" altLang="en-US" dirty="0">
              <a:solidFill>
                <a:srgbClr val="CF7F9F"/>
              </a:solidFill>
            </a:endParaRPr>
          </a:p>
          <a:p>
            <a:r>
              <a:rPr lang="zh-CN" altLang="en-US" sz="2800" dirty="0">
                <a:solidFill>
                  <a:srgbClr val="CF7F9F"/>
                </a:solidFill>
              </a:rPr>
              <a:t>三项核心工作</a:t>
            </a:r>
          </a:p>
          <a:p>
            <a:pPr marL="285750" indent="-285750">
              <a:buFont typeface="Arial" panose="020B0604020202020204" pitchFamily="34" charset="0"/>
              <a:buChar char="•"/>
            </a:pPr>
            <a:r>
              <a:rPr lang="zh-CN" altLang="en-US" dirty="0">
                <a:solidFill>
                  <a:srgbClr val="CF7F9F"/>
                </a:solidFill>
              </a:rPr>
              <a:t>系统搭建：集成 </a:t>
            </a:r>
            <a:r>
              <a:rPr lang="en-US" altLang="zh-CN" dirty="0" err="1">
                <a:solidFill>
                  <a:srgbClr val="CF7F9F"/>
                </a:solidFill>
              </a:rPr>
              <a:t>MuJoCo</a:t>
            </a:r>
            <a:r>
              <a:rPr lang="en-US" altLang="zh-CN" dirty="0">
                <a:solidFill>
                  <a:srgbClr val="CF7F9F"/>
                </a:solidFill>
              </a:rPr>
              <a:t> </a:t>
            </a:r>
            <a:r>
              <a:rPr lang="zh-CN" altLang="en-US" dirty="0">
                <a:solidFill>
                  <a:srgbClr val="CF7F9F"/>
                </a:solidFill>
              </a:rPr>
              <a:t>物理引擎、</a:t>
            </a:r>
            <a:r>
              <a:rPr lang="en-US" altLang="zh-CN" dirty="0">
                <a:solidFill>
                  <a:srgbClr val="CF7F9F"/>
                </a:solidFill>
              </a:rPr>
              <a:t>WEART </a:t>
            </a:r>
            <a:r>
              <a:rPr lang="zh-CN" altLang="en-US" dirty="0">
                <a:solidFill>
                  <a:srgbClr val="CF7F9F"/>
                </a:solidFill>
              </a:rPr>
              <a:t>触觉手套、</a:t>
            </a:r>
            <a:r>
              <a:rPr lang="en-US" altLang="zh-CN" dirty="0">
                <a:solidFill>
                  <a:srgbClr val="CF7F9F"/>
                </a:solidFill>
              </a:rPr>
              <a:t>VR </a:t>
            </a:r>
            <a:r>
              <a:rPr lang="zh-CN" altLang="en-US" dirty="0">
                <a:solidFill>
                  <a:srgbClr val="CF7F9F"/>
                </a:solidFill>
              </a:rPr>
              <a:t>头显，构建多模态交互硬件与软件环境。</a:t>
            </a:r>
          </a:p>
          <a:p>
            <a:pPr marL="285750" indent="-285750">
              <a:buFont typeface="Arial" panose="020B0604020202020204" pitchFamily="34" charset="0"/>
              <a:buChar char="•"/>
            </a:pPr>
            <a:r>
              <a:rPr lang="zh-CN" altLang="en-US" dirty="0">
                <a:solidFill>
                  <a:srgbClr val="CF7F9F"/>
                </a:solidFill>
              </a:rPr>
              <a:t>模型与算法设计：创建多组物理属性各异的可变形物体模型，设计接触力映射算法与多线程控制框架。</a:t>
            </a:r>
          </a:p>
          <a:p>
            <a:pPr marL="285750" indent="-285750">
              <a:buFont typeface="Arial" panose="020B0604020202020204" pitchFamily="34" charset="0"/>
              <a:buChar char="•"/>
            </a:pPr>
            <a:r>
              <a:rPr lang="zh-CN" altLang="en-US" dirty="0">
                <a:solidFill>
                  <a:srgbClr val="CF7F9F"/>
                </a:solidFill>
              </a:rPr>
              <a:t>实验与评估：设计对比实验，建立多维度评估体系，量化分析触觉反馈的有效性。</a:t>
            </a:r>
          </a:p>
        </p:txBody>
      </p:sp>
    </p:spTree>
    <p:custDataLst>
      <p:tags r:id="rId1"/>
    </p:custDataLst>
    <p:extLst>
      <p:ext uri="{BB962C8B-B14F-4D97-AF65-F5344CB8AC3E}">
        <p14:creationId xmlns:p14="http://schemas.microsoft.com/office/powerpoint/2010/main" val="3024952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grpSp>
        <p:nvGrpSpPr>
          <p:cNvPr id="3" name="组合 2"/>
          <p:cNvGrpSpPr/>
          <p:nvPr/>
        </p:nvGrpSpPr>
        <p:grpSpPr>
          <a:xfrm>
            <a:off x="4503418" y="2685415"/>
            <a:ext cx="3185160" cy="1487170"/>
            <a:chOff x="7093" y="3758"/>
            <a:chExt cx="5016" cy="2342"/>
          </a:xfrm>
          <a:solidFill>
            <a:schemeClr val="bg1">
              <a:alpha val="82000"/>
            </a:schemeClr>
          </a:solidFill>
        </p:grpSpPr>
        <p:sp>
          <p:nvSpPr>
            <p:cNvPr id="14" name="TextBox 8"/>
            <p:cNvSpPr txBox="1"/>
            <p:nvPr/>
          </p:nvSpPr>
          <p:spPr>
            <a:xfrm>
              <a:off x="9057" y="3758"/>
              <a:ext cx="1088" cy="1153"/>
            </a:xfrm>
            <a:prstGeom prst="rect">
              <a:avLst/>
            </a:prstGeom>
            <a:grpFill/>
          </p:spPr>
          <p:txBody>
            <a:bodyPr wrap="none" rtlCol="0">
              <a:spAutoFit/>
            </a:bodyPr>
            <a:lstStyle/>
            <a:p>
              <a:pPr algn="r">
                <a:lnSpc>
                  <a:spcPts val="5000"/>
                </a:lnSpc>
              </a:pPr>
              <a:r>
                <a:rPr lang="zh-CN" altLang="en-US" sz="40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叁</a:t>
              </a:r>
              <a:endParaRPr lang="zh-CN" altLang="en-US" sz="4000" spc="300" dirty="0">
                <a:solidFill>
                  <a:srgbClr val="DFAAC0"/>
                </a:solidFill>
                <a:effectLst>
                  <a:outerShdw blurRad="38100" dist="38100" dir="2700000" algn="tl">
                    <a:srgbClr val="000000">
                      <a:alpha val="43137"/>
                    </a:srgbClr>
                  </a:outerShdw>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15" name="TextBox 1"/>
            <p:cNvSpPr txBox="1"/>
            <p:nvPr/>
          </p:nvSpPr>
          <p:spPr>
            <a:xfrm>
              <a:off x="7093" y="4917"/>
              <a:ext cx="5016" cy="1183"/>
            </a:xfrm>
            <a:prstGeom prst="rect">
              <a:avLst/>
            </a:prstGeom>
            <a:grpFill/>
          </p:spPr>
          <p:txBody>
            <a:bodyPr wrap="square" lIns="0" tIns="0" rIns="0" rtlCol="0">
              <a:spAutoFit/>
            </a:bodyPr>
            <a:lstStyle/>
            <a:p>
              <a:pPr algn="ctr">
                <a:lnSpc>
                  <a:spcPct val="120000"/>
                </a:lnSpc>
              </a:pPr>
              <a:r>
                <a:rPr lang="zh-CN" altLang="en-US" sz="2000" dirty="0">
                  <a:solidFill>
                    <a:srgbClr val="DFAAC0"/>
                  </a:solidFill>
                  <a:ea typeface="阿里巴巴普惠体 R" panose="00020600040101010101" pitchFamily="18" charset="-122"/>
                </a:rPr>
                <a:t>实验平台与基础</a:t>
              </a:r>
              <a:endParaRPr lang="en-US" altLang="zh-CN" sz="2000" dirty="0">
                <a:solidFill>
                  <a:srgbClr val="DFAAC0"/>
                </a:solidFill>
                <a:ea typeface="阿里巴巴普惠体 R" panose="00020600040101010101" pitchFamily="18" charset="-122"/>
              </a:endParaRPr>
            </a:p>
            <a:p>
              <a:pPr algn="ctr">
                <a:lnSpc>
                  <a:spcPct val="120000"/>
                </a:lnSpc>
              </a:pPr>
              <a:endParaRPr lang="zh-CN" altLang="en-US" sz="2000" dirty="0">
                <a:solidFill>
                  <a:srgbClr val="DFAAC0"/>
                </a:solidFill>
                <a:ea typeface="阿里巴巴普惠体 R" panose="00020600040101010101" pitchFamily="18" charset="-122"/>
              </a:endParaRP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5B5B-E905-01E4-41CC-D17DBB09CB7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0B5D08C-EE81-3FD0-63DA-93925AE9DD88}"/>
              </a:ext>
            </a:extLst>
          </p:cNvPr>
          <p:cNvSpPr/>
          <p:nvPr/>
        </p:nvSpPr>
        <p:spPr>
          <a:xfrm>
            <a:off x="1" y="0"/>
            <a:ext cx="12192000" cy="68560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F985BBEC-CA26-BCA1-03C0-0698E37424C3}"/>
              </a:ext>
            </a:extLst>
          </p:cNvPr>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a:extLst>
              <a:ext uri="{FF2B5EF4-FFF2-40B4-BE49-F238E27FC236}">
                <a16:creationId xmlns:a16="http://schemas.microsoft.com/office/drawing/2014/main" id="{EA31B683-9300-E9C6-4B1A-78231F7668C4}"/>
              </a:ext>
            </a:extLst>
          </p:cNvPr>
          <p:cNvSpPr txBox="1"/>
          <p:nvPr/>
        </p:nvSpPr>
        <p:spPr>
          <a:xfrm>
            <a:off x="4223911" y="-123605"/>
            <a:ext cx="3744178" cy="1292662"/>
          </a:xfrm>
          <a:prstGeom prst="rect">
            <a:avLst/>
          </a:prstGeom>
          <a:noFill/>
        </p:spPr>
        <p:txBody>
          <a:bodyPr wrap="square" lIns="0" tIns="0" rIns="0" bIns="0" rtlCol="0" anchor="ctr">
            <a:spAutoFit/>
          </a:bodyPr>
          <a:lstStyle/>
          <a:p>
            <a:pPr algn="ctr"/>
            <a:endParaRPr lang="en-US" altLang="zh-CN" sz="2800" dirty="0">
              <a:solidFill>
                <a:srgbClr val="CF7F9F"/>
              </a:solidFill>
            </a:endParaRPr>
          </a:p>
          <a:p>
            <a:pPr algn="ctr"/>
            <a:r>
              <a:rPr lang="zh-CN" altLang="en-US" sz="2800" dirty="0">
                <a:solidFill>
                  <a:srgbClr val="CF7F9F"/>
                </a:solidFill>
              </a:rPr>
              <a:t>实验平台与基础</a:t>
            </a:r>
            <a:endParaRPr lang="en-US" altLang="zh-CN" sz="2800" dirty="0">
              <a:solidFill>
                <a:srgbClr val="CF7F9F"/>
              </a:solidFill>
            </a:endParaRPr>
          </a:p>
          <a:p>
            <a:pPr algn="ctr"/>
            <a:endParaRPr lang="zh-CN" altLang="zh-CN" sz="2800" dirty="0">
              <a:solidFill>
                <a:srgbClr val="CF7F9F"/>
              </a:solidFill>
              <a:effectLst/>
            </a:endParaRPr>
          </a:p>
        </p:txBody>
      </p:sp>
      <p:grpSp>
        <p:nvGrpSpPr>
          <p:cNvPr id="35" name="组合 34">
            <a:extLst>
              <a:ext uri="{FF2B5EF4-FFF2-40B4-BE49-F238E27FC236}">
                <a16:creationId xmlns:a16="http://schemas.microsoft.com/office/drawing/2014/main" id="{18B7B93A-557D-445C-1B91-5855D55566A0}"/>
              </a:ext>
            </a:extLst>
          </p:cNvPr>
          <p:cNvGrpSpPr/>
          <p:nvPr/>
        </p:nvGrpSpPr>
        <p:grpSpPr>
          <a:xfrm>
            <a:off x="840658" y="561638"/>
            <a:ext cx="10510685" cy="0"/>
            <a:chOff x="1028775" y="591989"/>
            <a:chExt cx="11086097" cy="0"/>
          </a:xfrm>
        </p:grpSpPr>
        <p:cxnSp>
          <p:nvCxnSpPr>
            <p:cNvPr id="36" name="直接连接符 35">
              <a:extLst>
                <a:ext uri="{FF2B5EF4-FFF2-40B4-BE49-F238E27FC236}">
                  <a16:creationId xmlns:a16="http://schemas.microsoft.com/office/drawing/2014/main" id="{6F5B9CCE-01CF-21A1-B059-97D51C4652B5}"/>
                </a:ext>
              </a:extLst>
            </p:cNvPr>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A504D98-69B5-56A6-FD9C-0F94DE3B0457}"/>
                </a:ext>
              </a:extLst>
            </p:cNvPr>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7" name="表格 6">
            <a:extLst>
              <a:ext uri="{FF2B5EF4-FFF2-40B4-BE49-F238E27FC236}">
                <a16:creationId xmlns:a16="http://schemas.microsoft.com/office/drawing/2014/main" id="{D1FABD84-5826-3386-FC88-FC3DC48D556F}"/>
              </a:ext>
            </a:extLst>
          </p:cNvPr>
          <p:cNvGraphicFramePr>
            <a:graphicFrameLocks noGrp="1"/>
          </p:cNvGraphicFramePr>
          <p:nvPr>
            <p:extLst>
              <p:ext uri="{D42A27DB-BD31-4B8C-83A1-F6EECF244321}">
                <p14:modId xmlns:p14="http://schemas.microsoft.com/office/powerpoint/2010/main" val="3973320019"/>
              </p:ext>
            </p:extLst>
          </p:nvPr>
        </p:nvGraphicFramePr>
        <p:xfrm>
          <a:off x="1952504" y="1489735"/>
          <a:ext cx="8440125" cy="3209925"/>
        </p:xfrm>
        <a:graphic>
          <a:graphicData uri="http://schemas.openxmlformats.org/drawingml/2006/table">
            <a:tbl>
              <a:tblPr/>
              <a:tblGrid>
                <a:gridCol w="2813375">
                  <a:extLst>
                    <a:ext uri="{9D8B030D-6E8A-4147-A177-3AD203B41FA5}">
                      <a16:colId xmlns:a16="http://schemas.microsoft.com/office/drawing/2014/main" val="2889126952"/>
                    </a:ext>
                  </a:extLst>
                </a:gridCol>
                <a:gridCol w="2813375">
                  <a:extLst>
                    <a:ext uri="{9D8B030D-6E8A-4147-A177-3AD203B41FA5}">
                      <a16:colId xmlns:a16="http://schemas.microsoft.com/office/drawing/2014/main" val="4252720016"/>
                    </a:ext>
                  </a:extLst>
                </a:gridCol>
                <a:gridCol w="2813375">
                  <a:extLst>
                    <a:ext uri="{9D8B030D-6E8A-4147-A177-3AD203B41FA5}">
                      <a16:colId xmlns:a16="http://schemas.microsoft.com/office/drawing/2014/main" val="3072170220"/>
                    </a:ext>
                  </a:extLst>
                </a:gridCol>
              </a:tblGrid>
              <a:tr h="318162">
                <a:tc>
                  <a:txBody>
                    <a:bodyPr/>
                    <a:lstStyle/>
                    <a:p>
                      <a:pPr algn="ctr">
                        <a:lnSpc>
                          <a:spcPts val="1800"/>
                        </a:lnSpc>
                        <a:buNone/>
                      </a:pPr>
                      <a:r>
                        <a:rPr lang="zh-CN" altLang="en-US" b="1" dirty="0">
                          <a:solidFill>
                            <a:srgbClr val="CF7F9F"/>
                          </a:solidFill>
                          <a:effectLst/>
                          <a:latin typeface="ui-sans-serif"/>
                        </a:rPr>
                        <a:t>类别</a:t>
                      </a:r>
                    </a:p>
                  </a:txBody>
                  <a:tcPr anchor="ctr">
                    <a:lnL>
                      <a:noFill/>
                    </a:lnL>
                    <a:lnR>
                      <a:noFill/>
                    </a:lnR>
                    <a:lnT>
                      <a:noFill/>
                    </a:lnT>
                    <a:lnB>
                      <a:noFill/>
                    </a:lnB>
                    <a:noFill/>
                  </a:tcPr>
                </a:tc>
                <a:tc>
                  <a:txBody>
                    <a:bodyPr/>
                    <a:lstStyle/>
                    <a:p>
                      <a:pPr algn="ctr">
                        <a:lnSpc>
                          <a:spcPts val="1800"/>
                        </a:lnSpc>
                        <a:buNone/>
                      </a:pPr>
                      <a:r>
                        <a:rPr lang="zh-CN" altLang="en-US" b="1" dirty="0">
                          <a:solidFill>
                            <a:srgbClr val="CF7F9F"/>
                          </a:solidFill>
                          <a:effectLst/>
                          <a:latin typeface="ui-sans-serif"/>
                        </a:rPr>
                        <a:t>具体选型</a:t>
                      </a:r>
                    </a:p>
                  </a:txBody>
                  <a:tcPr anchor="ctr">
                    <a:lnL>
                      <a:noFill/>
                    </a:lnL>
                    <a:lnR>
                      <a:noFill/>
                    </a:lnR>
                    <a:lnT>
                      <a:noFill/>
                    </a:lnT>
                    <a:lnB>
                      <a:noFill/>
                    </a:lnB>
                    <a:noFill/>
                  </a:tcPr>
                </a:tc>
                <a:tc>
                  <a:txBody>
                    <a:bodyPr/>
                    <a:lstStyle/>
                    <a:p>
                      <a:pPr algn="ctr">
                        <a:lnSpc>
                          <a:spcPts val="1800"/>
                        </a:lnSpc>
                        <a:buNone/>
                      </a:pPr>
                      <a:r>
                        <a:rPr lang="zh-CN" altLang="en-US" b="1" dirty="0">
                          <a:solidFill>
                            <a:srgbClr val="CF7F9F"/>
                          </a:solidFill>
                          <a:effectLst/>
                          <a:latin typeface="ui-sans-serif"/>
                        </a:rPr>
                        <a:t>作用说明</a:t>
                      </a:r>
                    </a:p>
                  </a:txBody>
                  <a:tcPr anchor="ctr">
                    <a:lnL>
                      <a:noFill/>
                    </a:lnL>
                    <a:lnR>
                      <a:noFill/>
                    </a:lnR>
                    <a:lnT>
                      <a:noFill/>
                    </a:lnT>
                    <a:lnB>
                      <a:noFill/>
                    </a:lnB>
                    <a:noFill/>
                  </a:tcPr>
                </a:tc>
                <a:extLst>
                  <a:ext uri="{0D108BD9-81ED-4DB2-BD59-A6C34878D82A}">
                    <a16:rowId xmlns:a16="http://schemas.microsoft.com/office/drawing/2014/main" val="2258510980"/>
                  </a:ext>
                </a:extLst>
              </a:tr>
              <a:tr h="769990">
                <a:tc>
                  <a:txBody>
                    <a:bodyPr/>
                    <a:lstStyle/>
                    <a:p>
                      <a:pPr algn="l">
                        <a:lnSpc>
                          <a:spcPts val="1800"/>
                        </a:lnSpc>
                        <a:buNone/>
                      </a:pPr>
                      <a:r>
                        <a:rPr lang="zh-CN" altLang="en-US" b="0" dirty="0">
                          <a:solidFill>
                            <a:srgbClr val="DFAAC0"/>
                          </a:solidFill>
                          <a:effectLst/>
                          <a:latin typeface="ui-sans-serif"/>
                        </a:rPr>
                        <a:t>物理仿真引擎</a:t>
                      </a:r>
                    </a:p>
                  </a:txBody>
                  <a:tcPr anchor="ctr">
                    <a:lnL>
                      <a:noFill/>
                    </a:lnL>
                    <a:lnR>
                      <a:noFill/>
                    </a:lnR>
                    <a:lnT>
                      <a:noFill/>
                    </a:lnT>
                    <a:lnB>
                      <a:noFill/>
                    </a:lnB>
                    <a:noFill/>
                  </a:tcPr>
                </a:tc>
                <a:tc>
                  <a:txBody>
                    <a:bodyPr/>
                    <a:lstStyle/>
                    <a:p>
                      <a:pPr algn="l">
                        <a:lnSpc>
                          <a:spcPts val="1800"/>
                        </a:lnSpc>
                        <a:buNone/>
                      </a:pPr>
                      <a:r>
                        <a:rPr lang="en-US" b="0" dirty="0" err="1">
                          <a:solidFill>
                            <a:srgbClr val="DFAAC0"/>
                          </a:solidFill>
                          <a:effectLst/>
                          <a:latin typeface="ui-sans-serif"/>
                        </a:rPr>
                        <a:t>MuJoCo</a:t>
                      </a:r>
                      <a:endParaRPr lang="en-US" b="0" dirty="0">
                        <a:solidFill>
                          <a:srgbClr val="DFAAC0"/>
                        </a:solidFill>
                        <a:effectLst/>
                        <a:latin typeface="ui-sans-serif"/>
                      </a:endParaRPr>
                    </a:p>
                  </a:txBody>
                  <a:tcPr anchor="ctr">
                    <a:lnL>
                      <a:noFill/>
                    </a:lnL>
                    <a:lnR>
                      <a:noFill/>
                    </a:lnR>
                    <a:lnT>
                      <a:noFill/>
                    </a:lnT>
                    <a:lnB>
                      <a:noFill/>
                    </a:lnB>
                    <a:noFill/>
                  </a:tcPr>
                </a:tc>
                <a:tc>
                  <a:txBody>
                    <a:bodyPr/>
                    <a:lstStyle/>
                    <a:p>
                      <a:pPr algn="l">
                        <a:lnSpc>
                          <a:spcPts val="1800"/>
                        </a:lnSpc>
                        <a:buNone/>
                      </a:pPr>
                      <a:r>
                        <a:rPr lang="zh-CN" altLang="en-US" b="0">
                          <a:solidFill>
                            <a:srgbClr val="DFAAC0"/>
                          </a:solidFill>
                          <a:effectLst/>
                          <a:latin typeface="ui-sans-serif"/>
                        </a:rPr>
                        <a:t>高精度计算可变形物体物理特性与接触力，支持 </a:t>
                      </a:r>
                      <a:r>
                        <a:rPr lang="en-US" b="0">
                          <a:solidFill>
                            <a:srgbClr val="DFAAC0"/>
                          </a:solidFill>
                          <a:effectLst/>
                          <a:latin typeface="ui-sans-serif"/>
                        </a:rPr>
                        <a:t>flexcomp </a:t>
                      </a:r>
                      <a:r>
                        <a:rPr lang="zh-CN" altLang="en-US" b="0">
                          <a:solidFill>
                            <a:srgbClr val="DFAAC0"/>
                          </a:solidFill>
                          <a:effectLst/>
                          <a:latin typeface="ui-sans-serif"/>
                        </a:rPr>
                        <a:t>元素建模</a:t>
                      </a:r>
                    </a:p>
                  </a:txBody>
                  <a:tcPr anchor="ctr">
                    <a:lnL>
                      <a:noFill/>
                    </a:lnL>
                    <a:lnR>
                      <a:noFill/>
                    </a:lnR>
                    <a:lnT>
                      <a:noFill/>
                    </a:lnT>
                    <a:lnB>
                      <a:noFill/>
                    </a:lnB>
                    <a:noFill/>
                  </a:tcPr>
                </a:tc>
                <a:extLst>
                  <a:ext uri="{0D108BD9-81ED-4DB2-BD59-A6C34878D82A}">
                    <a16:rowId xmlns:a16="http://schemas.microsoft.com/office/drawing/2014/main" val="2600840412"/>
                  </a:ext>
                </a:extLst>
              </a:tr>
              <a:tr h="769990">
                <a:tc>
                  <a:txBody>
                    <a:bodyPr/>
                    <a:lstStyle/>
                    <a:p>
                      <a:pPr algn="l">
                        <a:lnSpc>
                          <a:spcPts val="1800"/>
                        </a:lnSpc>
                        <a:buNone/>
                      </a:pPr>
                      <a:r>
                        <a:rPr lang="zh-CN" altLang="en-US" b="0" dirty="0">
                          <a:solidFill>
                            <a:srgbClr val="DFAAC0"/>
                          </a:solidFill>
                          <a:effectLst/>
                          <a:latin typeface="ui-sans-serif"/>
                        </a:rPr>
                        <a:t>触觉反馈设备</a:t>
                      </a:r>
                    </a:p>
                  </a:txBody>
                  <a:tcPr anchor="ctr">
                    <a:lnL>
                      <a:noFill/>
                    </a:lnL>
                    <a:lnR>
                      <a:noFill/>
                    </a:lnR>
                    <a:lnT>
                      <a:noFill/>
                    </a:lnT>
                    <a:lnB>
                      <a:noFill/>
                    </a:lnB>
                    <a:noFill/>
                  </a:tcPr>
                </a:tc>
                <a:tc>
                  <a:txBody>
                    <a:bodyPr/>
                    <a:lstStyle/>
                    <a:p>
                      <a:pPr algn="l">
                        <a:lnSpc>
                          <a:spcPts val="1800"/>
                        </a:lnSpc>
                        <a:buNone/>
                      </a:pPr>
                      <a:r>
                        <a:rPr lang="en-US" b="0" dirty="0">
                          <a:solidFill>
                            <a:srgbClr val="DFAAC0"/>
                          </a:solidFill>
                          <a:effectLst/>
                          <a:latin typeface="ui-sans-serif"/>
                        </a:rPr>
                        <a:t>WEART </a:t>
                      </a:r>
                      <a:r>
                        <a:rPr lang="en-US" b="0" dirty="0" err="1">
                          <a:solidFill>
                            <a:srgbClr val="DFAAC0"/>
                          </a:solidFill>
                          <a:effectLst/>
                          <a:latin typeface="ui-sans-serif"/>
                        </a:rPr>
                        <a:t>TouchDIVER</a:t>
                      </a:r>
                      <a:r>
                        <a:rPr lang="en-US" b="0" dirty="0">
                          <a:solidFill>
                            <a:srgbClr val="DFAAC0"/>
                          </a:solidFill>
                          <a:effectLst/>
                          <a:latin typeface="ui-sans-serif"/>
                        </a:rPr>
                        <a:t> </a:t>
                      </a:r>
                      <a:r>
                        <a:rPr lang="zh-CN" altLang="en-US" b="0" dirty="0">
                          <a:solidFill>
                            <a:srgbClr val="DFAAC0"/>
                          </a:solidFill>
                          <a:effectLst/>
                          <a:latin typeface="ui-sans-serif"/>
                        </a:rPr>
                        <a:t>触觉手套</a:t>
                      </a:r>
                    </a:p>
                  </a:txBody>
                  <a:tcPr anchor="ctr">
                    <a:lnL>
                      <a:noFill/>
                    </a:lnL>
                    <a:lnR>
                      <a:noFill/>
                    </a:lnR>
                    <a:lnT>
                      <a:noFill/>
                    </a:lnT>
                    <a:lnB>
                      <a:noFill/>
                    </a:lnB>
                    <a:noFill/>
                  </a:tcPr>
                </a:tc>
                <a:tc>
                  <a:txBody>
                    <a:bodyPr/>
                    <a:lstStyle/>
                    <a:p>
                      <a:pPr algn="l">
                        <a:lnSpc>
                          <a:spcPts val="1800"/>
                        </a:lnSpc>
                        <a:buNone/>
                      </a:pPr>
                      <a:r>
                        <a:rPr lang="zh-CN" altLang="en-US" b="0" dirty="0">
                          <a:solidFill>
                            <a:srgbClr val="DFAAC0"/>
                          </a:solidFill>
                          <a:effectLst/>
                          <a:latin typeface="ui-sans-serif"/>
                        </a:rPr>
                        <a:t>将仿真接触力转化为真实触觉信号，支持力值与纹理双通道反馈</a:t>
                      </a:r>
                    </a:p>
                  </a:txBody>
                  <a:tcPr anchor="ctr">
                    <a:lnL>
                      <a:noFill/>
                    </a:lnL>
                    <a:lnR>
                      <a:noFill/>
                    </a:lnR>
                    <a:lnT>
                      <a:noFill/>
                    </a:lnT>
                    <a:lnB>
                      <a:noFill/>
                    </a:lnB>
                    <a:noFill/>
                  </a:tcPr>
                </a:tc>
                <a:extLst>
                  <a:ext uri="{0D108BD9-81ED-4DB2-BD59-A6C34878D82A}">
                    <a16:rowId xmlns:a16="http://schemas.microsoft.com/office/drawing/2014/main" val="3723249553"/>
                  </a:ext>
                </a:extLst>
              </a:tr>
              <a:tr h="544076">
                <a:tc>
                  <a:txBody>
                    <a:bodyPr/>
                    <a:lstStyle/>
                    <a:p>
                      <a:pPr algn="l">
                        <a:lnSpc>
                          <a:spcPts val="1800"/>
                        </a:lnSpc>
                        <a:buNone/>
                      </a:pPr>
                      <a:r>
                        <a:rPr lang="zh-CN" altLang="en-US" b="0" dirty="0">
                          <a:solidFill>
                            <a:srgbClr val="DFAAC0"/>
                          </a:solidFill>
                          <a:effectLst/>
                          <a:latin typeface="ui-sans-serif"/>
                        </a:rPr>
                        <a:t>视觉呈现设备</a:t>
                      </a:r>
                    </a:p>
                  </a:txBody>
                  <a:tcPr anchor="ctr">
                    <a:lnL>
                      <a:noFill/>
                    </a:lnL>
                    <a:lnR>
                      <a:noFill/>
                    </a:lnR>
                    <a:lnT>
                      <a:noFill/>
                    </a:lnT>
                    <a:lnB>
                      <a:noFill/>
                    </a:lnB>
                    <a:noFill/>
                  </a:tcPr>
                </a:tc>
                <a:tc>
                  <a:txBody>
                    <a:bodyPr/>
                    <a:lstStyle/>
                    <a:p>
                      <a:pPr algn="l">
                        <a:lnSpc>
                          <a:spcPts val="1800"/>
                        </a:lnSpc>
                        <a:buNone/>
                      </a:pPr>
                      <a:r>
                        <a:rPr lang="en-US" b="0">
                          <a:solidFill>
                            <a:srgbClr val="DFAAC0"/>
                          </a:solidFill>
                          <a:effectLst/>
                          <a:latin typeface="ui-sans-serif"/>
                        </a:rPr>
                        <a:t>Oculus Rift S VR </a:t>
                      </a:r>
                      <a:r>
                        <a:rPr lang="zh-CN" altLang="en-US" b="0">
                          <a:solidFill>
                            <a:srgbClr val="DFAAC0"/>
                          </a:solidFill>
                          <a:effectLst/>
                          <a:latin typeface="ui-sans-serif"/>
                        </a:rPr>
                        <a:t>头显</a:t>
                      </a:r>
                    </a:p>
                  </a:txBody>
                  <a:tcPr anchor="ctr">
                    <a:lnL>
                      <a:noFill/>
                    </a:lnL>
                    <a:lnR>
                      <a:noFill/>
                    </a:lnR>
                    <a:lnT>
                      <a:noFill/>
                    </a:lnT>
                    <a:lnB>
                      <a:noFill/>
                    </a:lnB>
                    <a:noFill/>
                  </a:tcPr>
                </a:tc>
                <a:tc>
                  <a:txBody>
                    <a:bodyPr/>
                    <a:lstStyle/>
                    <a:p>
                      <a:pPr algn="l">
                        <a:lnSpc>
                          <a:spcPts val="1800"/>
                        </a:lnSpc>
                        <a:buNone/>
                      </a:pPr>
                      <a:r>
                        <a:rPr lang="zh-CN" altLang="en-US" b="0" dirty="0">
                          <a:solidFill>
                            <a:srgbClr val="DFAAC0"/>
                          </a:solidFill>
                          <a:effectLst/>
                          <a:latin typeface="ui-sans-serif"/>
                        </a:rPr>
                        <a:t>提供沉浸式视觉环境，实现视觉与触觉的时空同步</a:t>
                      </a:r>
                    </a:p>
                  </a:txBody>
                  <a:tcPr anchor="ctr">
                    <a:lnL>
                      <a:noFill/>
                    </a:lnL>
                    <a:lnR>
                      <a:noFill/>
                    </a:lnR>
                    <a:lnT>
                      <a:noFill/>
                    </a:lnT>
                    <a:lnB>
                      <a:noFill/>
                    </a:lnB>
                    <a:noFill/>
                  </a:tcPr>
                </a:tc>
                <a:extLst>
                  <a:ext uri="{0D108BD9-81ED-4DB2-BD59-A6C34878D82A}">
                    <a16:rowId xmlns:a16="http://schemas.microsoft.com/office/drawing/2014/main" val="3695680860"/>
                  </a:ext>
                </a:extLst>
              </a:tr>
              <a:tr h="544076">
                <a:tc>
                  <a:txBody>
                    <a:bodyPr/>
                    <a:lstStyle/>
                    <a:p>
                      <a:pPr algn="l">
                        <a:lnSpc>
                          <a:spcPts val="1800"/>
                        </a:lnSpc>
                        <a:buNone/>
                      </a:pPr>
                      <a:r>
                        <a:rPr lang="zh-CN" altLang="en-US" b="0">
                          <a:solidFill>
                            <a:srgbClr val="DFAAC0"/>
                          </a:solidFill>
                          <a:effectLst/>
                          <a:latin typeface="ui-sans-serif"/>
                        </a:rPr>
                        <a:t>辅助工具</a:t>
                      </a:r>
                    </a:p>
                  </a:txBody>
                  <a:tcPr anchor="ctr">
                    <a:lnL>
                      <a:noFill/>
                    </a:lnL>
                    <a:lnR>
                      <a:noFill/>
                    </a:lnR>
                    <a:lnT>
                      <a:noFill/>
                    </a:lnT>
                    <a:lnB>
                      <a:noFill/>
                    </a:lnB>
                    <a:noFill/>
                  </a:tcPr>
                </a:tc>
                <a:tc>
                  <a:txBody>
                    <a:bodyPr/>
                    <a:lstStyle/>
                    <a:p>
                      <a:pPr algn="l">
                        <a:lnSpc>
                          <a:spcPts val="1800"/>
                        </a:lnSpc>
                        <a:buNone/>
                      </a:pPr>
                      <a:r>
                        <a:rPr lang="en-US" b="0" dirty="0" err="1">
                          <a:solidFill>
                            <a:srgbClr val="DFAAC0"/>
                          </a:solidFill>
                          <a:effectLst/>
                          <a:latin typeface="ui-sans-serif"/>
                        </a:rPr>
                        <a:t>Gmsh</a:t>
                      </a:r>
                      <a:r>
                        <a:rPr lang="en-US" b="0" dirty="0">
                          <a:solidFill>
                            <a:srgbClr val="DFAAC0"/>
                          </a:solidFill>
                          <a:effectLst/>
                          <a:latin typeface="ui-sans-serif"/>
                        </a:rPr>
                        <a:t> </a:t>
                      </a:r>
                      <a:r>
                        <a:rPr lang="zh-CN" altLang="en-US" b="0" dirty="0">
                          <a:solidFill>
                            <a:srgbClr val="DFAAC0"/>
                          </a:solidFill>
                          <a:effectLst/>
                          <a:latin typeface="ui-sans-serif"/>
                        </a:rPr>
                        <a:t>网格生成工具、</a:t>
                      </a:r>
                      <a:r>
                        <a:rPr lang="en-US" b="0" dirty="0" err="1">
                          <a:solidFill>
                            <a:srgbClr val="DFAAC0"/>
                          </a:solidFill>
                          <a:effectLst/>
                          <a:latin typeface="ui-sans-serif"/>
                        </a:rPr>
                        <a:t>Python（Pandas</a:t>
                      </a:r>
                      <a:r>
                        <a:rPr lang="en-US" b="0" dirty="0">
                          <a:solidFill>
                            <a:srgbClr val="DFAAC0"/>
                          </a:solidFill>
                          <a:effectLst/>
                          <a:latin typeface="ui-sans-serif"/>
                        </a:rPr>
                        <a:t>/Matplotlib）</a:t>
                      </a:r>
                    </a:p>
                  </a:txBody>
                  <a:tcPr anchor="ctr">
                    <a:lnL>
                      <a:noFill/>
                    </a:lnL>
                    <a:lnR>
                      <a:noFill/>
                    </a:lnR>
                    <a:lnT>
                      <a:noFill/>
                    </a:lnT>
                    <a:lnB>
                      <a:noFill/>
                    </a:lnB>
                    <a:noFill/>
                  </a:tcPr>
                </a:tc>
                <a:tc>
                  <a:txBody>
                    <a:bodyPr/>
                    <a:lstStyle/>
                    <a:p>
                      <a:pPr algn="l">
                        <a:lnSpc>
                          <a:spcPts val="1800"/>
                        </a:lnSpc>
                        <a:buNone/>
                      </a:pPr>
                      <a:r>
                        <a:rPr lang="zh-CN" altLang="en-US" b="0" dirty="0">
                          <a:solidFill>
                            <a:srgbClr val="DFAAC0"/>
                          </a:solidFill>
                          <a:effectLst/>
                          <a:latin typeface="ui-sans-serif"/>
                        </a:rPr>
                        <a:t>复杂生物组织模型建模、实验数据统计与可视化</a:t>
                      </a:r>
                    </a:p>
                  </a:txBody>
                  <a:tcPr anchor="ctr">
                    <a:lnL>
                      <a:noFill/>
                    </a:lnL>
                    <a:lnR>
                      <a:noFill/>
                    </a:lnR>
                    <a:lnT>
                      <a:noFill/>
                    </a:lnT>
                    <a:lnB>
                      <a:noFill/>
                    </a:lnB>
                    <a:noFill/>
                  </a:tcPr>
                </a:tc>
                <a:extLst>
                  <a:ext uri="{0D108BD9-81ED-4DB2-BD59-A6C34878D82A}">
                    <a16:rowId xmlns:a16="http://schemas.microsoft.com/office/drawing/2014/main" val="2454138173"/>
                  </a:ext>
                </a:extLst>
              </a:tr>
            </a:tbl>
          </a:graphicData>
        </a:graphic>
      </p:graphicFrame>
      <p:sp>
        <p:nvSpPr>
          <p:cNvPr id="10" name="文本框 9">
            <a:extLst>
              <a:ext uri="{FF2B5EF4-FFF2-40B4-BE49-F238E27FC236}">
                <a16:creationId xmlns:a16="http://schemas.microsoft.com/office/drawing/2014/main" id="{221FD625-CC3C-8B96-5961-D73033303F55}"/>
              </a:ext>
            </a:extLst>
          </p:cNvPr>
          <p:cNvSpPr txBox="1"/>
          <p:nvPr/>
        </p:nvSpPr>
        <p:spPr>
          <a:xfrm>
            <a:off x="735808" y="4991166"/>
            <a:ext cx="10720381" cy="923330"/>
          </a:xfrm>
          <a:prstGeom prst="rect">
            <a:avLst/>
          </a:prstGeom>
          <a:noFill/>
        </p:spPr>
        <p:txBody>
          <a:bodyPr wrap="square" rtlCol="0">
            <a:spAutoFit/>
          </a:bodyPr>
          <a:lstStyle/>
          <a:p>
            <a:r>
              <a:rPr lang="zh-CN" altLang="en-US" dirty="0">
                <a:solidFill>
                  <a:srgbClr val="DFAAC0"/>
                </a:solidFill>
              </a:rPr>
              <a:t>平台成熟：</a:t>
            </a:r>
            <a:r>
              <a:rPr lang="en-US" altLang="zh-CN" dirty="0" err="1">
                <a:solidFill>
                  <a:srgbClr val="DFAAC0"/>
                </a:solidFill>
              </a:rPr>
              <a:t>MuJoCo</a:t>
            </a:r>
            <a:r>
              <a:rPr lang="en-US" altLang="zh-CN" dirty="0">
                <a:solidFill>
                  <a:srgbClr val="DFAAC0"/>
                </a:solidFill>
              </a:rPr>
              <a:t> </a:t>
            </a:r>
            <a:r>
              <a:rPr lang="zh-CN" altLang="en-US" dirty="0">
                <a:solidFill>
                  <a:srgbClr val="DFAAC0"/>
                </a:solidFill>
              </a:rPr>
              <a:t>开源且支持可变形物体精细化建模，</a:t>
            </a:r>
            <a:r>
              <a:rPr lang="en-US" altLang="zh-CN" dirty="0">
                <a:solidFill>
                  <a:srgbClr val="DFAAC0"/>
                </a:solidFill>
              </a:rPr>
              <a:t>WEART </a:t>
            </a:r>
            <a:r>
              <a:rPr lang="zh-CN" altLang="en-US" dirty="0">
                <a:solidFill>
                  <a:srgbClr val="DFAAC0"/>
                </a:solidFill>
              </a:rPr>
              <a:t>手套提供标准化 </a:t>
            </a:r>
            <a:r>
              <a:rPr lang="en-US" altLang="zh-CN" dirty="0">
                <a:solidFill>
                  <a:srgbClr val="DFAAC0"/>
                </a:solidFill>
              </a:rPr>
              <a:t>API</a:t>
            </a:r>
            <a:r>
              <a:rPr lang="zh-CN" altLang="en-US" dirty="0">
                <a:solidFill>
                  <a:srgbClr val="DFAAC0"/>
                </a:solidFill>
              </a:rPr>
              <a:t>，硬件接入便捷。</a:t>
            </a:r>
          </a:p>
          <a:p>
            <a:r>
              <a:rPr lang="zh-CN" altLang="en-US" dirty="0">
                <a:solidFill>
                  <a:srgbClr val="DFAAC0"/>
                </a:solidFill>
              </a:rPr>
              <a:t>方法可行：接触力计算、运动重定向等核心算法已有相关研究基础，可基于现有成果优化实现。</a:t>
            </a:r>
          </a:p>
          <a:p>
            <a:r>
              <a:rPr lang="zh-CN" altLang="en-US" dirty="0">
                <a:solidFill>
                  <a:srgbClr val="DFAAC0"/>
                </a:solidFill>
              </a:rPr>
              <a:t>任务聚焦：规避复杂物理建模的过度深化，聚焦 “建模 </a:t>
            </a:r>
            <a:r>
              <a:rPr lang="en-US" altLang="zh-CN" dirty="0">
                <a:solidFill>
                  <a:srgbClr val="DFAAC0"/>
                </a:solidFill>
              </a:rPr>
              <a:t>- </a:t>
            </a:r>
            <a:r>
              <a:rPr lang="zh-CN" altLang="en-US" dirty="0">
                <a:solidFill>
                  <a:srgbClr val="DFAAC0"/>
                </a:solidFill>
              </a:rPr>
              <a:t>交互 </a:t>
            </a:r>
            <a:r>
              <a:rPr lang="en-US" altLang="zh-CN" dirty="0">
                <a:solidFill>
                  <a:srgbClr val="DFAAC0"/>
                </a:solidFill>
              </a:rPr>
              <a:t>- </a:t>
            </a:r>
            <a:r>
              <a:rPr lang="zh-CN" altLang="en-US" dirty="0">
                <a:solidFill>
                  <a:srgbClr val="DFAAC0"/>
                </a:solidFill>
              </a:rPr>
              <a:t>评估” 闭环，符合本科毕设工作量要求。</a:t>
            </a:r>
          </a:p>
        </p:txBody>
      </p:sp>
    </p:spTree>
    <p:custDataLst>
      <p:tags r:id="rId1"/>
    </p:custDataLst>
    <p:extLst>
      <p:ext uri="{BB962C8B-B14F-4D97-AF65-F5344CB8AC3E}">
        <p14:creationId xmlns:p14="http://schemas.microsoft.com/office/powerpoint/2010/main" val="2154239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BB0D-57EB-E9E0-1917-9A67581B41D6}"/>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F41009CD-9E85-DF31-CF54-C414ABC88DF2}"/>
              </a:ext>
            </a:extLst>
          </p:cNvPr>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a:extLst>
              <a:ext uri="{FF2B5EF4-FFF2-40B4-BE49-F238E27FC236}">
                <a16:creationId xmlns:a16="http://schemas.microsoft.com/office/drawing/2014/main" id="{1571E475-8CFA-5991-A8CF-88F8CE7BBEBC}"/>
              </a:ext>
            </a:extLst>
          </p:cNvPr>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a:extLst>
              <a:ext uri="{FF2B5EF4-FFF2-40B4-BE49-F238E27FC236}">
                <a16:creationId xmlns:a16="http://schemas.microsoft.com/office/drawing/2014/main" id="{E0F877FE-4AA2-09A5-4678-BF6A90309A86}"/>
              </a:ext>
            </a:extLst>
          </p:cNvPr>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grpSp>
        <p:nvGrpSpPr>
          <p:cNvPr id="3" name="组合 2">
            <a:extLst>
              <a:ext uri="{FF2B5EF4-FFF2-40B4-BE49-F238E27FC236}">
                <a16:creationId xmlns:a16="http://schemas.microsoft.com/office/drawing/2014/main" id="{4B58DDFA-1EEB-82D6-50B2-DA5AD183D401}"/>
              </a:ext>
            </a:extLst>
          </p:cNvPr>
          <p:cNvGrpSpPr/>
          <p:nvPr/>
        </p:nvGrpSpPr>
        <p:grpSpPr>
          <a:xfrm>
            <a:off x="4503418" y="2685415"/>
            <a:ext cx="3185160" cy="1487170"/>
            <a:chOff x="7093" y="3758"/>
            <a:chExt cx="5016" cy="2342"/>
          </a:xfrm>
          <a:solidFill>
            <a:schemeClr val="bg1">
              <a:alpha val="82000"/>
            </a:schemeClr>
          </a:solidFill>
        </p:grpSpPr>
        <p:sp>
          <p:nvSpPr>
            <p:cNvPr id="14" name="TextBox 8">
              <a:extLst>
                <a:ext uri="{FF2B5EF4-FFF2-40B4-BE49-F238E27FC236}">
                  <a16:creationId xmlns:a16="http://schemas.microsoft.com/office/drawing/2014/main" id="{3F630078-CFD5-1532-BF48-E2208897C257}"/>
                </a:ext>
              </a:extLst>
            </p:cNvPr>
            <p:cNvSpPr txBox="1"/>
            <p:nvPr/>
          </p:nvSpPr>
          <p:spPr>
            <a:xfrm>
              <a:off x="8986" y="3758"/>
              <a:ext cx="1159" cy="1095"/>
            </a:xfrm>
            <a:prstGeom prst="rect">
              <a:avLst/>
            </a:prstGeom>
            <a:grpFill/>
          </p:spPr>
          <p:txBody>
            <a:bodyPr wrap="none" rtlCol="0">
              <a:spAutoFit/>
            </a:bodyPr>
            <a:lstStyle/>
            <a:p>
              <a:pPr algn="r">
                <a:lnSpc>
                  <a:spcPts val="5000"/>
                </a:lnSpc>
              </a:pPr>
              <a:r>
                <a:rPr lang="zh-CN" altLang="en-US" sz="4000" spc="300" dirty="0">
                  <a:solidFill>
                    <a:srgbClr val="DFAAC0"/>
                  </a:solidFill>
                  <a:effectLst>
                    <a:outerShdw blurRad="38100" dist="38100" dir="2700000" algn="tl">
                      <a:srgbClr val="000000">
                        <a:alpha val="43137"/>
                      </a:srgbClr>
                    </a:outerShdw>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肆</a:t>
              </a:r>
            </a:p>
          </p:txBody>
        </p:sp>
        <p:sp>
          <p:nvSpPr>
            <p:cNvPr id="15" name="TextBox 1">
              <a:extLst>
                <a:ext uri="{FF2B5EF4-FFF2-40B4-BE49-F238E27FC236}">
                  <a16:creationId xmlns:a16="http://schemas.microsoft.com/office/drawing/2014/main" id="{0E97330B-8B01-73F8-8316-E337282E51F3}"/>
                </a:ext>
              </a:extLst>
            </p:cNvPr>
            <p:cNvSpPr txBox="1"/>
            <p:nvPr/>
          </p:nvSpPr>
          <p:spPr>
            <a:xfrm>
              <a:off x="7093" y="4917"/>
              <a:ext cx="5016" cy="1183"/>
            </a:xfrm>
            <a:prstGeom prst="rect">
              <a:avLst/>
            </a:prstGeom>
            <a:grpFill/>
          </p:spPr>
          <p:txBody>
            <a:bodyPr wrap="square" lIns="0" tIns="0" rIns="0" rtlCol="0">
              <a:spAutoFit/>
            </a:bodyPr>
            <a:lstStyle/>
            <a:p>
              <a:pPr algn="ctr">
                <a:lnSpc>
                  <a:spcPct val="120000"/>
                </a:lnSpc>
              </a:pPr>
              <a:r>
                <a:rPr lang="zh-CN" altLang="en-US" sz="2000" dirty="0">
                  <a:solidFill>
                    <a:srgbClr val="DFAAC0"/>
                  </a:solidFill>
                  <a:ea typeface="阿里巴巴普惠体 R" panose="00020600040101010101" pitchFamily="18" charset="-122"/>
                </a:rPr>
                <a:t>系统架构与核心设计</a:t>
              </a:r>
            </a:p>
            <a:p>
              <a:pPr algn="ctr">
                <a:lnSpc>
                  <a:spcPct val="120000"/>
                </a:lnSpc>
              </a:pPr>
              <a:endParaRPr lang="zh-CN" altLang="en-US" sz="2000" dirty="0">
                <a:solidFill>
                  <a:srgbClr val="DFAAC0"/>
                </a:solidFill>
                <a:ea typeface="阿里巴巴普惠体 R" panose="00020600040101010101" pitchFamily="18" charset="-122"/>
              </a:endParaRPr>
            </a:p>
          </p:txBody>
        </p:sp>
      </p:grpSp>
    </p:spTree>
    <p:custDataLst>
      <p:tags r:id="rId1"/>
    </p:custDataLst>
    <p:extLst>
      <p:ext uri="{BB962C8B-B14F-4D97-AF65-F5344CB8AC3E}">
        <p14:creationId xmlns:p14="http://schemas.microsoft.com/office/powerpoint/2010/main" val="2137604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 name="图片 38"/>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p:cNvSpPr txBox="1"/>
          <p:nvPr/>
        </p:nvSpPr>
        <p:spPr>
          <a:xfrm>
            <a:off x="4223911" y="307282"/>
            <a:ext cx="3744178" cy="430887"/>
          </a:xfrm>
          <a:prstGeom prst="rect">
            <a:avLst/>
          </a:prstGeom>
          <a:noFill/>
        </p:spPr>
        <p:txBody>
          <a:bodyPr wrap="square" lIns="0" tIns="0" rIns="0" bIns="0" rtlCol="0" anchor="ctr">
            <a:spAutoFit/>
          </a:bodyPr>
          <a:lstStyle/>
          <a:p>
            <a:pPr algn="ctr"/>
            <a:r>
              <a:rPr lang="zh-CN" altLang="en-US" sz="2800" dirty="0">
                <a:solidFill>
                  <a:srgbClr val="CF7F9F"/>
                </a:solidFill>
                <a:sym typeface="阿里巴巴普惠体 R" panose="00020600040101010101" pitchFamily="18" charset="-122"/>
              </a:rPr>
              <a:t>系统整体架构</a:t>
            </a:r>
          </a:p>
        </p:txBody>
      </p:sp>
      <p:grpSp>
        <p:nvGrpSpPr>
          <p:cNvPr id="35" name="组合 34"/>
          <p:cNvGrpSpPr/>
          <p:nvPr/>
        </p:nvGrpSpPr>
        <p:grpSpPr>
          <a:xfrm>
            <a:off x="840658" y="561638"/>
            <a:ext cx="10510685" cy="0"/>
            <a:chOff x="1028775" y="591989"/>
            <a:chExt cx="11086097" cy="0"/>
          </a:xfrm>
        </p:grpSpPr>
        <p:cxnSp>
          <p:nvCxnSpPr>
            <p:cNvPr id="36" name="直接连接符 35"/>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986155" y="1422400"/>
            <a:ext cx="10219690" cy="4309745"/>
            <a:chOff x="1158" y="2240"/>
            <a:chExt cx="16094" cy="6787"/>
          </a:xfrm>
        </p:grpSpPr>
        <p:grpSp>
          <p:nvGrpSpPr>
            <p:cNvPr id="6" name="组合 5"/>
            <p:cNvGrpSpPr/>
            <p:nvPr/>
          </p:nvGrpSpPr>
          <p:grpSpPr>
            <a:xfrm>
              <a:off x="1158" y="2422"/>
              <a:ext cx="6107" cy="1778"/>
              <a:chOff x="1158" y="2422"/>
              <a:chExt cx="6107" cy="1778"/>
            </a:xfrm>
          </p:grpSpPr>
          <p:grpSp>
            <p:nvGrpSpPr>
              <p:cNvPr id="2" name="组合 13"/>
              <p:cNvGrpSpPr/>
              <p:nvPr/>
            </p:nvGrpSpPr>
            <p:grpSpPr bwMode="auto">
              <a:xfrm>
                <a:off x="1227" y="2422"/>
                <a:ext cx="5793" cy="690"/>
                <a:chOff x="0" y="0"/>
                <a:chExt cx="3240360" cy="328796"/>
              </a:xfrm>
              <a:solidFill>
                <a:srgbClr val="1F4E78"/>
              </a:solidFill>
            </p:grpSpPr>
            <p:sp>
              <p:nvSpPr>
                <p:cNvPr id="10" name="矩形 14"/>
                <p:cNvSpPr>
                  <a:spLocks noChangeArrowheads="1"/>
                </p:cNvSpPr>
                <p:nvPr/>
              </p:nvSpPr>
              <p:spPr bwMode="auto">
                <a:xfrm>
                  <a:off x="0" y="1900"/>
                  <a:ext cx="3240360" cy="326896"/>
                </a:xfrm>
                <a:prstGeom prst="rect">
                  <a:avLst/>
                </a:prstGeom>
                <a:solidFill>
                  <a:srgbClr val="95D4D3"/>
                </a:solidFill>
                <a:ln>
                  <a:noFill/>
                </a:ln>
                <a:extLst>
                  <a:ext uri="{91240B29-F687-4F45-9708-019B960494DF}">
                    <a14:hiddenLine xmlns:a14="http://schemas.microsoft.com/office/drawing/2010/main" w="12700">
                      <a:solidFill>
                        <a:srgbClr val="42719B"/>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endParaRPr lang="zh-CN" altLang="zh-CN" sz="2400" strike="noStrike" noProof="1">
                    <a:solidFill>
                      <a:schemeClr val="bg1"/>
                    </a:solidFill>
                    <a:latin typeface="思源黑体 CN Bold" panose="020B0800000000000000" charset="-122"/>
                    <a:ea typeface="思源黑体 CN Bold" panose="020B0800000000000000" charset="-122"/>
                    <a:sym typeface="宋体" panose="02010600030101010101" pitchFamily="2" charset="-122"/>
                  </a:endParaRPr>
                </a:p>
              </p:txBody>
            </p:sp>
            <p:sp>
              <p:nvSpPr>
                <p:cNvPr id="3" name="文本框 11"/>
                <p:cNvSpPr>
                  <a:spLocks noChangeArrowheads="1"/>
                </p:cNvSpPr>
                <p:nvPr/>
              </p:nvSpPr>
              <p:spPr bwMode="auto">
                <a:xfrm>
                  <a:off x="72008" y="0"/>
                  <a:ext cx="1355852" cy="32334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fontAlgn="auto" hangingPunct="1"/>
                  <a:r>
                    <a:rPr lang="en-US" altLang="zh-CN" sz="2200" b="1" strike="noStrike"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1    </a:t>
                  </a:r>
                  <a:r>
                    <a:rPr lang="zh-CN" altLang="en-US" sz="2200" b="1"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硬件层</a:t>
                  </a:r>
                  <a:endParaRPr lang="zh-CN" altLang="en-US" sz="2200" b="1" strike="noStrike"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sp>
            <p:nvSpPr>
              <p:cNvPr id="5" name="矩形 17"/>
              <p:cNvSpPr/>
              <p:nvPr/>
            </p:nvSpPr>
            <p:spPr>
              <a:xfrm>
                <a:off x="1158" y="3223"/>
                <a:ext cx="6107" cy="977"/>
              </a:xfrm>
              <a:prstGeom prst="rect">
                <a:avLst/>
              </a:prstGeom>
              <a:noFill/>
              <a:ln w="9525">
                <a:noFill/>
              </a:ln>
            </p:spPr>
            <p:txBody>
              <a:bodyPr anchor="t">
                <a:spAutoFit/>
              </a:bodyPr>
              <a:lstStyle/>
              <a:p>
                <a:pPr>
                  <a:lnSpc>
                    <a:spcPct val="150000"/>
                  </a:lnSpc>
                </a:pPr>
                <a:r>
                  <a:rPr lang="en-US" altLang="zh-CN"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WEART </a:t>
                </a:r>
                <a:r>
                  <a:rPr lang="zh-CN" altLang="en-US"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触觉手套（触觉输出）、</a:t>
                </a:r>
                <a:r>
                  <a:rPr lang="en-US" altLang="zh-CN"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VR </a:t>
                </a:r>
                <a:r>
                  <a:rPr lang="zh-CN" altLang="en-US"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头显（视觉输出）、动作捕捉设备（运动输入）。</a:t>
                </a:r>
                <a:endParaRPr lang="zh-CN" altLang="en-US" sz="1200" dirty="0">
                  <a:solidFill>
                    <a:srgbClr val="40404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grpSp>
          <p:nvGrpSpPr>
            <p:cNvPr id="7" name="组合 6"/>
            <p:cNvGrpSpPr/>
            <p:nvPr/>
          </p:nvGrpSpPr>
          <p:grpSpPr>
            <a:xfrm>
              <a:off x="1158" y="4836"/>
              <a:ext cx="6107" cy="1778"/>
              <a:chOff x="1158" y="5042"/>
              <a:chExt cx="6107" cy="1778"/>
            </a:xfrm>
          </p:grpSpPr>
          <p:grpSp>
            <p:nvGrpSpPr>
              <p:cNvPr id="13" name="组合 18"/>
              <p:cNvGrpSpPr/>
              <p:nvPr/>
            </p:nvGrpSpPr>
            <p:grpSpPr bwMode="auto">
              <a:xfrm>
                <a:off x="1227" y="5042"/>
                <a:ext cx="5793" cy="690"/>
                <a:chOff x="0" y="0"/>
                <a:chExt cx="3240360" cy="328796"/>
              </a:xfrm>
              <a:solidFill>
                <a:srgbClr val="1F4E78"/>
              </a:solidFill>
            </p:grpSpPr>
            <p:sp>
              <p:nvSpPr>
                <p:cNvPr id="14" name="矩形 19"/>
                <p:cNvSpPr>
                  <a:spLocks noChangeArrowheads="1"/>
                </p:cNvSpPr>
                <p:nvPr/>
              </p:nvSpPr>
              <p:spPr bwMode="auto">
                <a:xfrm>
                  <a:off x="0" y="1900"/>
                  <a:ext cx="3240360" cy="326896"/>
                </a:xfrm>
                <a:prstGeom prst="rect">
                  <a:avLst/>
                </a:prstGeom>
                <a:solidFill>
                  <a:srgbClr val="DFAAC0"/>
                </a:solidFill>
                <a:ln>
                  <a:noFill/>
                </a:ln>
                <a:extLst>
                  <a:ext uri="{91240B29-F687-4F45-9708-019B960494DF}">
                    <a14:hiddenLine xmlns:a14="http://schemas.microsoft.com/office/drawing/2010/main" w="12700">
                      <a:solidFill>
                        <a:srgbClr val="42719B"/>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endParaRPr lang="zh-CN" altLang="zh-CN" sz="2400" strike="noStrike" noProof="1">
                    <a:solidFill>
                      <a:schemeClr val="bg1"/>
                    </a:solidFill>
                    <a:latin typeface="思源黑体 CN Bold" panose="020B0800000000000000" charset="-122"/>
                    <a:ea typeface="思源黑体 CN Bold" panose="020B0800000000000000" charset="-122"/>
                    <a:sym typeface="宋体" panose="02010600030101010101" pitchFamily="2" charset="-122"/>
                  </a:endParaRPr>
                </a:p>
              </p:txBody>
            </p:sp>
            <p:sp>
              <p:nvSpPr>
                <p:cNvPr id="15" name="文本框 11"/>
                <p:cNvSpPr>
                  <a:spLocks noChangeArrowheads="1"/>
                </p:cNvSpPr>
                <p:nvPr/>
              </p:nvSpPr>
              <p:spPr bwMode="auto">
                <a:xfrm>
                  <a:off x="72008" y="0"/>
                  <a:ext cx="1355852" cy="32334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fontAlgn="auto"/>
                  <a:r>
                    <a:rPr lang="en-US" altLang="zh-CN" sz="2200" b="1" strike="noStrike"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2    </a:t>
                  </a:r>
                  <a:r>
                    <a:rPr lang="zh-CN" altLang="en-US" sz="2200" b="1"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软件层</a:t>
                  </a:r>
                  <a:endParaRPr lang="zh-CN" altLang="en-US" sz="2200" b="1" strike="noStrike"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sp>
            <p:nvSpPr>
              <p:cNvPr id="16" name="矩形 21"/>
              <p:cNvSpPr/>
              <p:nvPr/>
            </p:nvSpPr>
            <p:spPr>
              <a:xfrm>
                <a:off x="1158" y="5843"/>
                <a:ext cx="6107" cy="977"/>
              </a:xfrm>
              <a:prstGeom prst="rect">
                <a:avLst/>
              </a:prstGeom>
              <a:noFill/>
              <a:ln w="9525">
                <a:noFill/>
              </a:ln>
            </p:spPr>
            <p:txBody>
              <a:bodyPr anchor="t">
                <a:spAutoFit/>
              </a:bodyPr>
              <a:lstStyle/>
              <a:p>
                <a:pPr>
                  <a:lnSpc>
                    <a:spcPct val="150000"/>
                  </a:lnSpc>
                </a:pPr>
                <a:r>
                  <a:rPr lang="en-US" altLang="zh-CN" sz="1200" dirty="0" err="1">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MuJoCo</a:t>
                </a:r>
                <a:r>
                  <a:rPr lang="en-US" altLang="zh-CN"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 </a:t>
                </a:r>
                <a:r>
                  <a:rPr lang="zh-CN" altLang="en-US"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物理引擎（物理运算）、接触力映射模块（信号转换）、多线程控制模块（时空同步）。</a:t>
                </a:r>
                <a:endParaRPr lang="zh-CN" altLang="en-US" sz="1200" dirty="0">
                  <a:solidFill>
                    <a:srgbClr val="40404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grpSp>
          <p:nvGrpSpPr>
            <p:cNvPr id="8" name="组合 7"/>
            <p:cNvGrpSpPr/>
            <p:nvPr/>
          </p:nvGrpSpPr>
          <p:grpSpPr>
            <a:xfrm>
              <a:off x="1158" y="7250"/>
              <a:ext cx="6107" cy="1777"/>
              <a:chOff x="1158" y="7250"/>
              <a:chExt cx="6107" cy="1777"/>
            </a:xfrm>
          </p:grpSpPr>
          <p:grpSp>
            <p:nvGrpSpPr>
              <p:cNvPr id="17" name="组合 22"/>
              <p:cNvGrpSpPr/>
              <p:nvPr/>
            </p:nvGrpSpPr>
            <p:grpSpPr bwMode="auto">
              <a:xfrm>
                <a:off x="1227" y="7250"/>
                <a:ext cx="5793" cy="690"/>
                <a:chOff x="0" y="0"/>
                <a:chExt cx="3240360" cy="328796"/>
              </a:xfrm>
              <a:solidFill>
                <a:srgbClr val="1F4E78"/>
              </a:solidFill>
            </p:grpSpPr>
            <p:sp>
              <p:nvSpPr>
                <p:cNvPr id="18" name="矩形 23"/>
                <p:cNvSpPr>
                  <a:spLocks noChangeArrowheads="1"/>
                </p:cNvSpPr>
                <p:nvPr/>
              </p:nvSpPr>
              <p:spPr bwMode="auto">
                <a:xfrm>
                  <a:off x="0" y="1900"/>
                  <a:ext cx="3240360" cy="326896"/>
                </a:xfrm>
                <a:prstGeom prst="rect">
                  <a:avLst/>
                </a:prstGeom>
                <a:solidFill>
                  <a:srgbClr val="95D4D3"/>
                </a:solidFill>
                <a:ln>
                  <a:noFill/>
                </a:ln>
                <a:extLst>
                  <a:ext uri="{91240B29-F687-4F45-9708-019B960494DF}">
                    <a14:hiddenLine xmlns:a14="http://schemas.microsoft.com/office/drawing/2010/main" w="12700">
                      <a:solidFill>
                        <a:srgbClr val="42719B"/>
                      </a:solidFill>
                      <a:bevel/>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endParaRPr lang="zh-CN" altLang="zh-CN" sz="2400" strike="noStrike" noProof="1">
                    <a:solidFill>
                      <a:schemeClr val="bg1"/>
                    </a:solidFill>
                    <a:latin typeface="思源黑体 CN Bold" panose="020B0800000000000000" charset="-122"/>
                    <a:ea typeface="思源黑体 CN Bold" panose="020B0800000000000000" charset="-122"/>
                    <a:sym typeface="宋体" panose="02010600030101010101" pitchFamily="2" charset="-122"/>
                  </a:endParaRPr>
                </a:p>
              </p:txBody>
            </p:sp>
            <p:sp>
              <p:nvSpPr>
                <p:cNvPr id="19" name="文本框 11"/>
                <p:cNvSpPr>
                  <a:spLocks noChangeArrowheads="1"/>
                </p:cNvSpPr>
                <p:nvPr/>
              </p:nvSpPr>
              <p:spPr bwMode="auto">
                <a:xfrm>
                  <a:off x="72008" y="0"/>
                  <a:ext cx="1355852" cy="32334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fontAlgn="auto"/>
                  <a:r>
                    <a:rPr lang="en-US" altLang="zh-CN" sz="2200" b="1" strike="noStrike"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3    </a:t>
                  </a:r>
                  <a:r>
                    <a:rPr lang="zh-CN" altLang="en-US" sz="2200" b="1"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应用层</a:t>
                  </a:r>
                  <a:endParaRPr lang="zh-CN" altLang="en-US" sz="2200" b="1" strike="noStrike" noProof="1">
                    <a:solidFill>
                      <a:schemeClr val="bg1"/>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sp>
            <p:nvSpPr>
              <p:cNvPr id="20" name="矩形 25"/>
              <p:cNvSpPr/>
              <p:nvPr/>
            </p:nvSpPr>
            <p:spPr>
              <a:xfrm>
                <a:off x="1158" y="8050"/>
                <a:ext cx="6107" cy="977"/>
              </a:xfrm>
              <a:prstGeom prst="rect">
                <a:avLst/>
              </a:prstGeom>
              <a:noFill/>
              <a:ln w="9525">
                <a:noFill/>
              </a:ln>
            </p:spPr>
            <p:txBody>
              <a:bodyPr anchor="t">
                <a:spAutoFit/>
              </a:bodyPr>
              <a:lstStyle/>
              <a:p>
                <a:pPr>
                  <a:lnSpc>
                    <a:spcPct val="150000"/>
                  </a:lnSpc>
                </a:pPr>
                <a:r>
                  <a:rPr lang="zh-CN" altLang="en-US" sz="12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可变形物体模型库、标准化交互任务、评估数据采集模块。</a:t>
                </a:r>
                <a:endParaRPr lang="zh-CN" altLang="en-US" sz="1200" dirty="0">
                  <a:solidFill>
                    <a:srgbClr val="40404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pic>
          <p:nvPicPr>
            <p:cNvPr id="21" name="图片 26" descr="E:\ppt模板\素材\d63ae3f6dcd5a01720b9d6d723890613.jpgd63ae3f6dcd5a01720b9d6d723890613"/>
            <p:cNvPicPr>
              <a:picLocks noChangeAspect="1" noChangeArrowheads="1"/>
            </p:cNvPicPr>
            <p:nvPr/>
          </p:nvPicPr>
          <p:blipFill>
            <a:blip r:embed="rId4"/>
            <a:srcRect t="26667" b="26667"/>
            <a:stretch>
              <a:fillRect/>
            </a:stretch>
          </p:blipFill>
          <p:spPr bwMode="auto">
            <a:xfrm>
              <a:off x="7896" y="2240"/>
              <a:ext cx="9356" cy="654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 name="图片 38"/>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p:cNvSpPr txBox="1"/>
          <p:nvPr/>
        </p:nvSpPr>
        <p:spPr>
          <a:xfrm>
            <a:off x="4223911" y="338258"/>
            <a:ext cx="3744178" cy="368935"/>
          </a:xfrm>
          <a:prstGeom prst="rect">
            <a:avLst/>
          </a:prstGeom>
          <a:noFill/>
        </p:spPr>
        <p:txBody>
          <a:bodyPr wrap="square" lIns="0" tIns="0" rIns="0" bIns="0" rtlCol="0" anchor="ctr">
            <a:spAutoFit/>
          </a:bodyPr>
          <a:lstStyle/>
          <a:p>
            <a:pPr algn="ctr"/>
            <a:r>
              <a:rPr lang="zh-CN" altLang="en-US" sz="24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核心设计细节</a:t>
            </a:r>
            <a:r>
              <a:rPr lang="en-US" altLang="zh-CN" sz="24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1</a:t>
            </a:r>
            <a:endParaRPr lang="zh-CN" altLang="en-US" sz="24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nvGrpSpPr>
          <p:cNvPr id="35" name="组合 34"/>
          <p:cNvGrpSpPr/>
          <p:nvPr/>
        </p:nvGrpSpPr>
        <p:grpSpPr>
          <a:xfrm>
            <a:off x="840658" y="561638"/>
            <a:ext cx="10510685" cy="0"/>
            <a:chOff x="1028775" y="591989"/>
            <a:chExt cx="11086097" cy="0"/>
          </a:xfrm>
        </p:grpSpPr>
        <p:cxnSp>
          <p:nvCxnSpPr>
            <p:cNvPr id="36" name="直接连接符 35"/>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2375534" y="1717040"/>
            <a:ext cx="8102280" cy="3637915"/>
            <a:chOff x="3741" y="3721"/>
            <a:chExt cx="11991" cy="5729"/>
          </a:xfrm>
        </p:grpSpPr>
        <p:cxnSp>
          <p:nvCxnSpPr>
            <p:cNvPr id="12" name="Straight Connector 16"/>
            <p:cNvCxnSpPr/>
            <p:nvPr/>
          </p:nvCxnSpPr>
          <p:spPr>
            <a:xfrm>
              <a:off x="10534" y="3721"/>
              <a:ext cx="0" cy="1457"/>
            </a:xfrm>
            <a:prstGeom prst="line">
              <a:avLst/>
            </a:prstGeom>
            <a:ln w="28575">
              <a:solidFill>
                <a:srgbClr val="95D4D3"/>
              </a:solidFill>
            </a:ln>
          </p:spPr>
          <p:style>
            <a:lnRef idx="1">
              <a:schemeClr val="accent1"/>
            </a:lnRef>
            <a:fillRef idx="0">
              <a:schemeClr val="accent1"/>
            </a:fillRef>
            <a:effectRef idx="0">
              <a:schemeClr val="accent1"/>
            </a:effectRef>
            <a:fontRef idx="minor">
              <a:schemeClr val="tx1"/>
            </a:fontRef>
          </p:style>
        </p:cxnSp>
        <p:cxnSp>
          <p:nvCxnSpPr>
            <p:cNvPr id="13" name="Straight Connector 17"/>
            <p:cNvCxnSpPr/>
            <p:nvPr/>
          </p:nvCxnSpPr>
          <p:spPr>
            <a:xfrm>
              <a:off x="10534" y="5847"/>
              <a:ext cx="0" cy="1457"/>
            </a:xfrm>
            <a:prstGeom prst="line">
              <a:avLst/>
            </a:prstGeom>
            <a:ln w="28575">
              <a:solidFill>
                <a:srgbClr val="95D4D3"/>
              </a:solidFill>
            </a:ln>
          </p:spPr>
          <p:style>
            <a:lnRef idx="1">
              <a:schemeClr val="accent1"/>
            </a:lnRef>
            <a:fillRef idx="0">
              <a:schemeClr val="accent1"/>
            </a:fillRef>
            <a:effectRef idx="0">
              <a:schemeClr val="accent1"/>
            </a:effectRef>
            <a:fontRef idx="minor">
              <a:schemeClr val="tx1"/>
            </a:fontRef>
          </p:style>
        </p:cxnSp>
        <p:cxnSp>
          <p:nvCxnSpPr>
            <p:cNvPr id="14" name="Straight Connector 18"/>
            <p:cNvCxnSpPr/>
            <p:nvPr/>
          </p:nvCxnSpPr>
          <p:spPr>
            <a:xfrm>
              <a:off x="10534" y="7993"/>
              <a:ext cx="0" cy="1457"/>
            </a:xfrm>
            <a:prstGeom prst="line">
              <a:avLst/>
            </a:prstGeom>
            <a:ln w="28575">
              <a:solidFill>
                <a:srgbClr val="95D4D3"/>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3741" y="3721"/>
              <a:ext cx="5329" cy="5406"/>
              <a:chOff x="3741" y="3721"/>
              <a:chExt cx="5329" cy="5406"/>
            </a:xfrm>
          </p:grpSpPr>
          <p:sp>
            <p:nvSpPr>
              <p:cNvPr id="15" name="Freeform 5"/>
              <p:cNvSpPr/>
              <p:nvPr/>
            </p:nvSpPr>
            <p:spPr bwMode="auto">
              <a:xfrm>
                <a:off x="6168" y="3721"/>
                <a:ext cx="2903" cy="3898"/>
              </a:xfrm>
              <a:custGeom>
                <a:avLst/>
                <a:gdLst>
                  <a:gd name="T0" fmla="*/ 506 w 506"/>
                  <a:gd name="T1" fmla="*/ 472 h 680"/>
                  <a:gd name="T2" fmla="*/ 488 w 506"/>
                  <a:gd name="T3" fmla="*/ 600 h 680"/>
                  <a:gd name="T4" fmla="*/ 488 w 506"/>
                  <a:gd name="T5" fmla="*/ 600 h 680"/>
                  <a:gd name="T6" fmla="*/ 314 w 506"/>
                  <a:gd name="T7" fmla="*/ 680 h 680"/>
                  <a:gd name="T8" fmla="*/ 259 w 506"/>
                  <a:gd name="T9" fmla="*/ 562 h 680"/>
                  <a:gd name="T10" fmla="*/ 276 w 506"/>
                  <a:gd name="T11" fmla="*/ 472 h 680"/>
                  <a:gd name="T12" fmla="*/ 54 w 506"/>
                  <a:gd name="T13" fmla="*/ 230 h 680"/>
                  <a:gd name="T14" fmla="*/ 142 w 506"/>
                  <a:gd name="T15" fmla="*/ 141 h 680"/>
                  <a:gd name="T16" fmla="*/ 0 w 506"/>
                  <a:gd name="T17" fmla="*/ 1 h 680"/>
                  <a:gd name="T18" fmla="*/ 34 w 506"/>
                  <a:gd name="T19" fmla="*/ 0 h 680"/>
                  <a:gd name="T20" fmla="*/ 506 w 506"/>
                  <a:gd name="T21" fmla="*/ 472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6" h="680">
                    <a:moveTo>
                      <a:pt x="506" y="472"/>
                    </a:moveTo>
                    <a:cubicBezTo>
                      <a:pt x="506" y="516"/>
                      <a:pt x="500" y="559"/>
                      <a:pt x="488" y="600"/>
                    </a:cubicBezTo>
                    <a:cubicBezTo>
                      <a:pt x="488" y="600"/>
                      <a:pt x="488" y="600"/>
                      <a:pt x="488" y="600"/>
                    </a:cubicBezTo>
                    <a:cubicBezTo>
                      <a:pt x="314" y="680"/>
                      <a:pt x="314" y="680"/>
                      <a:pt x="314" y="680"/>
                    </a:cubicBezTo>
                    <a:cubicBezTo>
                      <a:pt x="259" y="562"/>
                      <a:pt x="259" y="562"/>
                      <a:pt x="259" y="562"/>
                    </a:cubicBezTo>
                    <a:cubicBezTo>
                      <a:pt x="270" y="534"/>
                      <a:pt x="276" y="504"/>
                      <a:pt x="276" y="472"/>
                    </a:cubicBezTo>
                    <a:cubicBezTo>
                      <a:pt x="276" y="345"/>
                      <a:pt x="179" y="240"/>
                      <a:pt x="54" y="230"/>
                    </a:cubicBezTo>
                    <a:cubicBezTo>
                      <a:pt x="142" y="141"/>
                      <a:pt x="142" y="141"/>
                      <a:pt x="142" y="141"/>
                    </a:cubicBezTo>
                    <a:cubicBezTo>
                      <a:pt x="0" y="1"/>
                      <a:pt x="0" y="1"/>
                      <a:pt x="0" y="1"/>
                    </a:cubicBezTo>
                    <a:cubicBezTo>
                      <a:pt x="11" y="0"/>
                      <a:pt x="23" y="0"/>
                      <a:pt x="34" y="0"/>
                    </a:cubicBezTo>
                    <a:cubicBezTo>
                      <a:pt x="295" y="0"/>
                      <a:pt x="506" y="211"/>
                      <a:pt x="506" y="472"/>
                    </a:cubicBezTo>
                    <a:close/>
                  </a:path>
                </a:pathLst>
              </a:custGeom>
              <a:solidFill>
                <a:srgbClr val="DFAAC0"/>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16" name="Freeform 5"/>
              <p:cNvSpPr/>
              <p:nvPr/>
            </p:nvSpPr>
            <p:spPr bwMode="auto">
              <a:xfrm>
                <a:off x="6490" y="4924"/>
                <a:ext cx="1785" cy="2687"/>
              </a:xfrm>
              <a:custGeom>
                <a:avLst/>
                <a:gdLst>
                  <a:gd name="connsiteX0" fmla="*/ 130432 w 2180836"/>
                  <a:gd name="connsiteY0" fmla="*/ 0 h 3283202"/>
                  <a:gd name="connsiteX1" fmla="*/ 286434 w 2180836"/>
                  <a:gd name="connsiteY1" fmla="*/ 7878 h 3283202"/>
                  <a:gd name="connsiteX2" fmla="*/ 2180836 w 2180836"/>
                  <a:gd name="connsiteY2" fmla="*/ 2107137 h 3283202"/>
                  <a:gd name="connsiteX3" fmla="*/ 1926152 w 2180836"/>
                  <a:gd name="connsiteY3" fmla="*/ 3112962 h 3283202"/>
                  <a:gd name="connsiteX4" fmla="*/ 1822728 w 2180836"/>
                  <a:gd name="connsiteY4" fmla="*/ 3283202 h 3283202"/>
                  <a:gd name="connsiteX5" fmla="*/ 1755028 w 2180836"/>
                  <a:gd name="connsiteY5" fmla="*/ 3138103 h 3283202"/>
                  <a:gd name="connsiteX6" fmla="*/ 1437292 w 2180836"/>
                  <a:gd name="connsiteY6" fmla="*/ 2457110 h 3283202"/>
                  <a:gd name="connsiteX7" fmla="*/ 1556482 w 2180836"/>
                  <a:gd name="connsiteY7" fmla="*/ 1826749 h 3283202"/>
                  <a:gd name="connsiteX8" fmla="*/ 0 w 2180836"/>
                  <a:gd name="connsiteY8" fmla="*/ 131779 h 3283202"/>
                  <a:gd name="connsiteX9" fmla="*/ 108604 w 2180836"/>
                  <a:gd name="connsiteY9" fmla="*/ 22053 h 3283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0836" h="3283202">
                    <a:moveTo>
                      <a:pt x="130432" y="0"/>
                    </a:moveTo>
                    <a:lnTo>
                      <a:pt x="286434" y="7878"/>
                    </a:lnTo>
                    <a:cubicBezTo>
                      <a:pt x="1350492" y="115939"/>
                      <a:pt x="2180836" y="1014569"/>
                      <a:pt x="2180836" y="2107137"/>
                    </a:cubicBezTo>
                    <a:cubicBezTo>
                      <a:pt x="2180836" y="2471327"/>
                      <a:pt x="2088576" y="2813967"/>
                      <a:pt x="1926152" y="3112962"/>
                    </a:cubicBezTo>
                    <a:lnTo>
                      <a:pt x="1822728" y="3283202"/>
                    </a:lnTo>
                    <a:lnTo>
                      <a:pt x="1755028" y="3138103"/>
                    </a:lnTo>
                    <a:cubicBezTo>
                      <a:pt x="1437292" y="2457110"/>
                      <a:pt x="1437292" y="2457110"/>
                      <a:pt x="1437292" y="2457110"/>
                    </a:cubicBezTo>
                    <a:cubicBezTo>
                      <a:pt x="1514416" y="2260998"/>
                      <a:pt x="1556482" y="2050878"/>
                      <a:pt x="1556482" y="1826749"/>
                    </a:cubicBezTo>
                    <a:cubicBezTo>
                      <a:pt x="1556482" y="937240"/>
                      <a:pt x="876398" y="201819"/>
                      <a:pt x="0" y="131779"/>
                    </a:cubicBezTo>
                    <a:cubicBezTo>
                      <a:pt x="38562" y="92820"/>
                      <a:pt x="74712" y="56295"/>
                      <a:pt x="108604" y="22053"/>
                    </a:cubicBezTo>
                    <a:close/>
                  </a:path>
                </a:pathLst>
              </a:custGeom>
              <a:solidFill>
                <a:srgbClr val="F4EAF5"/>
              </a:solidFill>
              <a:ln>
                <a:noFill/>
              </a:ln>
            </p:spPr>
            <p:txBody>
              <a:bodyPr vert="horz" wrap="square" lIns="91440" tIns="45720" rIns="91440" bIns="45720" numCol="1" anchor="t" anchorCtr="0" compatLnSpc="1">
                <a:noAutofit/>
              </a:bodyPr>
              <a:lstStyle/>
              <a:p>
                <a:endParaRPr lang="en-US">
                  <a:solidFill>
                    <a:schemeClr val="tx1">
                      <a:lumMod val="75000"/>
                      <a:lumOff val="25000"/>
                    </a:schemeClr>
                  </a:solidFill>
                </a:endParaRPr>
              </a:p>
            </p:txBody>
          </p:sp>
          <p:sp>
            <p:nvSpPr>
              <p:cNvPr id="17" name="Freeform 7"/>
              <p:cNvSpPr/>
              <p:nvPr/>
            </p:nvSpPr>
            <p:spPr bwMode="auto">
              <a:xfrm>
                <a:off x="3741" y="3854"/>
                <a:ext cx="2775" cy="4140"/>
              </a:xfrm>
              <a:custGeom>
                <a:avLst/>
                <a:gdLst>
                  <a:gd name="T0" fmla="*/ 484 w 484"/>
                  <a:gd name="T1" fmla="*/ 126 h 722"/>
                  <a:gd name="T2" fmla="*/ 379 w 484"/>
                  <a:gd name="T3" fmla="*/ 233 h 722"/>
                  <a:gd name="T4" fmla="*/ 230 w 484"/>
                  <a:gd name="T5" fmla="*/ 457 h 722"/>
                  <a:gd name="T6" fmla="*/ 245 w 484"/>
                  <a:gd name="T7" fmla="*/ 543 h 722"/>
                  <a:gd name="T8" fmla="*/ 74 w 484"/>
                  <a:gd name="T9" fmla="*/ 550 h 722"/>
                  <a:gd name="T10" fmla="*/ 82 w 484"/>
                  <a:gd name="T11" fmla="*/ 722 h 722"/>
                  <a:gd name="T12" fmla="*/ 0 w 484"/>
                  <a:gd name="T13" fmla="*/ 457 h 722"/>
                  <a:gd name="T14" fmla="*/ 355 w 484"/>
                  <a:gd name="T15" fmla="*/ 0 h 722"/>
                  <a:gd name="T16" fmla="*/ 484 w 484"/>
                  <a:gd name="T17" fmla="*/ 126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4" h="722">
                    <a:moveTo>
                      <a:pt x="484" y="126"/>
                    </a:moveTo>
                    <a:cubicBezTo>
                      <a:pt x="379" y="233"/>
                      <a:pt x="379" y="233"/>
                      <a:pt x="379" y="233"/>
                    </a:cubicBezTo>
                    <a:cubicBezTo>
                      <a:pt x="291" y="269"/>
                      <a:pt x="230" y="356"/>
                      <a:pt x="230" y="457"/>
                    </a:cubicBezTo>
                    <a:cubicBezTo>
                      <a:pt x="230" y="487"/>
                      <a:pt x="235" y="516"/>
                      <a:pt x="245" y="543"/>
                    </a:cubicBezTo>
                    <a:cubicBezTo>
                      <a:pt x="74" y="550"/>
                      <a:pt x="74" y="550"/>
                      <a:pt x="74" y="550"/>
                    </a:cubicBezTo>
                    <a:cubicBezTo>
                      <a:pt x="82" y="722"/>
                      <a:pt x="82" y="722"/>
                      <a:pt x="82" y="722"/>
                    </a:cubicBezTo>
                    <a:cubicBezTo>
                      <a:pt x="30" y="646"/>
                      <a:pt x="0" y="555"/>
                      <a:pt x="0" y="457"/>
                    </a:cubicBezTo>
                    <a:cubicBezTo>
                      <a:pt x="0" y="237"/>
                      <a:pt x="151" y="52"/>
                      <a:pt x="355" y="0"/>
                    </a:cubicBezTo>
                    <a:lnTo>
                      <a:pt x="484" y="126"/>
                    </a:lnTo>
                    <a:close/>
                  </a:path>
                </a:pathLst>
              </a:custGeom>
              <a:solidFill>
                <a:srgbClr val="DFAAC0"/>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18" name="Freeform 11"/>
              <p:cNvSpPr/>
              <p:nvPr/>
            </p:nvSpPr>
            <p:spPr bwMode="auto">
              <a:xfrm>
                <a:off x="4661" y="4537"/>
                <a:ext cx="1868" cy="2441"/>
              </a:xfrm>
              <a:custGeom>
                <a:avLst/>
                <a:gdLst>
                  <a:gd name="connsiteX0" fmla="*/ 2110154 w 2282381"/>
                  <a:gd name="connsiteY0" fmla="*/ 0 h 2983301"/>
                  <a:gd name="connsiteX1" fmla="*/ 2243506 w 2282381"/>
                  <a:gd name="connsiteY1" fmla="*/ 6734 h 2983301"/>
                  <a:gd name="connsiteX2" fmla="*/ 2282381 w 2282381"/>
                  <a:gd name="connsiteY2" fmla="*/ 44704 h 2983301"/>
                  <a:gd name="connsiteX3" fmla="*/ 1546737 w 2282381"/>
                  <a:gd name="connsiteY3" fmla="*/ 794351 h 2983301"/>
                  <a:gd name="connsiteX4" fmla="*/ 502824 w 2282381"/>
                  <a:gd name="connsiteY4" fmla="*/ 2363705 h 2983301"/>
                  <a:gd name="connsiteX5" fmla="*/ 607916 w 2282381"/>
                  <a:gd name="connsiteY5" fmla="*/ 2966225 h 2983301"/>
                  <a:gd name="connsiteX6" fmla="*/ 212467 w 2282381"/>
                  <a:gd name="connsiteY6" fmla="*/ 2982413 h 2983301"/>
                  <a:gd name="connsiteX7" fmla="*/ 190770 w 2282381"/>
                  <a:gd name="connsiteY7" fmla="*/ 2983301 h 2983301"/>
                  <a:gd name="connsiteX8" fmla="*/ 165827 w 2282381"/>
                  <a:gd name="connsiteY8" fmla="*/ 2931521 h 2983301"/>
                  <a:gd name="connsiteX9" fmla="*/ 0 w 2282381"/>
                  <a:gd name="connsiteY9" fmla="*/ 2110154 h 2983301"/>
                  <a:gd name="connsiteX10" fmla="*/ 2110154 w 2282381"/>
                  <a:gd name="connsiteY10" fmla="*/ 0 h 298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2381" h="2983301">
                    <a:moveTo>
                      <a:pt x="2110154" y="0"/>
                    </a:moveTo>
                    <a:lnTo>
                      <a:pt x="2243506" y="6734"/>
                    </a:lnTo>
                    <a:lnTo>
                      <a:pt x="2282381" y="44704"/>
                    </a:lnTo>
                    <a:cubicBezTo>
                      <a:pt x="1546737" y="794351"/>
                      <a:pt x="1546737" y="794351"/>
                      <a:pt x="1546737" y="794351"/>
                    </a:cubicBezTo>
                    <a:cubicBezTo>
                      <a:pt x="930198" y="1046568"/>
                      <a:pt x="502824" y="1656094"/>
                      <a:pt x="502824" y="2363705"/>
                    </a:cubicBezTo>
                    <a:cubicBezTo>
                      <a:pt x="502824" y="2573886"/>
                      <a:pt x="537855" y="2777062"/>
                      <a:pt x="607916" y="2966225"/>
                    </a:cubicBezTo>
                    <a:cubicBezTo>
                      <a:pt x="458160" y="2972355"/>
                      <a:pt x="327124" y="2977719"/>
                      <a:pt x="212467" y="2982413"/>
                    </a:cubicBezTo>
                    <a:lnTo>
                      <a:pt x="190770" y="2983301"/>
                    </a:lnTo>
                    <a:lnTo>
                      <a:pt x="165827" y="2931521"/>
                    </a:lnTo>
                    <a:cubicBezTo>
                      <a:pt x="59047" y="2679066"/>
                      <a:pt x="0" y="2401505"/>
                      <a:pt x="0" y="2110154"/>
                    </a:cubicBezTo>
                    <a:cubicBezTo>
                      <a:pt x="0" y="944748"/>
                      <a:pt x="944748" y="0"/>
                      <a:pt x="2110154" y="0"/>
                    </a:cubicBezTo>
                    <a:close/>
                  </a:path>
                </a:pathLst>
              </a:custGeom>
              <a:solidFill>
                <a:srgbClr val="F4EAF5"/>
              </a:solidFill>
              <a:ln>
                <a:noFill/>
              </a:ln>
            </p:spPr>
            <p:txBody>
              <a:bodyPr vert="horz" wrap="square" lIns="91440" tIns="45720" rIns="91440" bIns="45720" numCol="1" anchor="t" anchorCtr="0" compatLnSpc="1">
                <a:noAutofit/>
              </a:bodyPr>
              <a:lstStyle/>
              <a:p>
                <a:endParaRPr lang="en-US">
                  <a:solidFill>
                    <a:schemeClr val="tx1">
                      <a:lumMod val="75000"/>
                      <a:lumOff val="25000"/>
                    </a:schemeClr>
                  </a:solidFill>
                </a:endParaRPr>
              </a:p>
            </p:txBody>
          </p:sp>
          <p:sp>
            <p:nvSpPr>
              <p:cNvPr id="19" name="Freeform 6"/>
              <p:cNvSpPr/>
              <p:nvPr/>
            </p:nvSpPr>
            <p:spPr bwMode="auto">
              <a:xfrm>
                <a:off x="4493" y="7305"/>
                <a:ext cx="4261" cy="1822"/>
              </a:xfrm>
              <a:custGeom>
                <a:avLst/>
                <a:gdLst>
                  <a:gd name="T0" fmla="*/ 743 w 743"/>
                  <a:gd name="T1" fmla="*/ 67 h 318"/>
                  <a:gd name="T2" fmla="*/ 326 w 743"/>
                  <a:gd name="T3" fmla="*/ 318 h 318"/>
                  <a:gd name="T4" fmla="*/ 7 w 743"/>
                  <a:gd name="T5" fmla="*/ 195 h 318"/>
                  <a:gd name="T6" fmla="*/ 0 w 743"/>
                  <a:gd name="T7" fmla="*/ 5 h 318"/>
                  <a:gd name="T8" fmla="*/ 138 w 743"/>
                  <a:gd name="T9" fmla="*/ 0 h 318"/>
                  <a:gd name="T10" fmla="*/ 326 w 743"/>
                  <a:gd name="T11" fmla="*/ 89 h 318"/>
                  <a:gd name="T12" fmla="*/ 508 w 743"/>
                  <a:gd name="T13" fmla="*/ 7 h 318"/>
                  <a:gd name="T14" fmla="*/ 572 w 743"/>
                  <a:gd name="T15" fmla="*/ 146 h 318"/>
                  <a:gd name="T16" fmla="*/ 743 w 743"/>
                  <a:gd name="T17" fmla="*/ 6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3" h="318">
                    <a:moveTo>
                      <a:pt x="743" y="67"/>
                    </a:moveTo>
                    <a:cubicBezTo>
                      <a:pt x="664" y="216"/>
                      <a:pt x="507" y="318"/>
                      <a:pt x="326" y="318"/>
                    </a:cubicBezTo>
                    <a:cubicBezTo>
                      <a:pt x="203" y="318"/>
                      <a:pt x="91" y="272"/>
                      <a:pt x="7" y="195"/>
                    </a:cubicBezTo>
                    <a:cubicBezTo>
                      <a:pt x="0" y="5"/>
                      <a:pt x="0" y="5"/>
                      <a:pt x="0" y="5"/>
                    </a:cubicBezTo>
                    <a:cubicBezTo>
                      <a:pt x="138" y="0"/>
                      <a:pt x="138" y="0"/>
                      <a:pt x="138" y="0"/>
                    </a:cubicBezTo>
                    <a:cubicBezTo>
                      <a:pt x="183" y="54"/>
                      <a:pt x="250" y="89"/>
                      <a:pt x="326" y="89"/>
                    </a:cubicBezTo>
                    <a:cubicBezTo>
                      <a:pt x="398" y="89"/>
                      <a:pt x="463" y="57"/>
                      <a:pt x="508" y="7"/>
                    </a:cubicBezTo>
                    <a:cubicBezTo>
                      <a:pt x="572" y="146"/>
                      <a:pt x="572" y="146"/>
                      <a:pt x="572" y="146"/>
                    </a:cubicBezTo>
                    <a:lnTo>
                      <a:pt x="743" y="67"/>
                    </a:lnTo>
                    <a:close/>
                  </a:path>
                </a:pathLst>
              </a:custGeom>
              <a:solidFill>
                <a:srgbClr val="DFAAC0"/>
              </a:solidFill>
              <a:ln>
                <a:noFill/>
              </a:ln>
            </p:spPr>
            <p:txBody>
              <a:bodyPr vert="horz" wrap="square" lIns="91440" tIns="45720" rIns="91440" bIns="45720" numCol="1" anchor="t" anchorCtr="0" compatLnSpc="1"/>
              <a:lstStyle/>
              <a:p>
                <a:endParaRPr lang="en-US">
                  <a:solidFill>
                    <a:schemeClr val="tx1">
                      <a:lumMod val="75000"/>
                      <a:lumOff val="25000"/>
                    </a:schemeClr>
                  </a:solidFill>
                </a:endParaRPr>
              </a:p>
            </p:txBody>
          </p:sp>
          <p:sp>
            <p:nvSpPr>
              <p:cNvPr id="20" name="Freeform 9"/>
              <p:cNvSpPr/>
              <p:nvPr/>
            </p:nvSpPr>
            <p:spPr bwMode="auto">
              <a:xfrm>
                <a:off x="4493" y="7305"/>
                <a:ext cx="3029" cy="1073"/>
              </a:xfrm>
              <a:custGeom>
                <a:avLst/>
                <a:gdLst>
                  <a:gd name="connsiteX0" fmla="*/ 966472 w 3701696"/>
                  <a:gd name="connsiteY0" fmla="*/ 0 h 1311275"/>
                  <a:gd name="connsiteX1" fmla="*/ 2283784 w 3701696"/>
                  <a:gd name="connsiteY1" fmla="*/ 623043 h 1311275"/>
                  <a:gd name="connsiteX2" fmla="*/ 3559054 w 3701696"/>
                  <a:gd name="connsiteY2" fmla="*/ 49003 h 1311275"/>
                  <a:gd name="connsiteX3" fmla="*/ 3637992 w 3701696"/>
                  <a:gd name="connsiteY3" fmla="*/ 220288 h 1311275"/>
                  <a:gd name="connsiteX4" fmla="*/ 3701696 w 3701696"/>
                  <a:gd name="connsiteY4" fmla="*/ 358517 h 1311275"/>
                  <a:gd name="connsiteX5" fmla="*/ 3688081 w 3701696"/>
                  <a:gd name="connsiteY5" fmla="*/ 380928 h 1311275"/>
                  <a:gd name="connsiteX6" fmla="*/ 1938308 w 3701696"/>
                  <a:gd name="connsiteY6" fmla="*/ 1311275 h 1311275"/>
                  <a:gd name="connsiteX7" fmla="*/ 82839 w 3701696"/>
                  <a:gd name="connsiteY7" fmla="*/ 206946 h 1311275"/>
                  <a:gd name="connsiteX8" fmla="*/ 0 w 3701696"/>
                  <a:gd name="connsiteY8" fmla="*/ 34984 h 1311275"/>
                  <a:gd name="connsiteX9" fmla="*/ 169719 w 3701696"/>
                  <a:gd name="connsiteY9" fmla="*/ 28841 h 1311275"/>
                  <a:gd name="connsiteX10" fmla="*/ 966472 w 3701696"/>
                  <a:gd name="connsiteY10" fmla="*/ 0 h 131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01696" h="1311275">
                    <a:moveTo>
                      <a:pt x="966472" y="0"/>
                    </a:moveTo>
                    <a:cubicBezTo>
                      <a:pt x="1281786" y="378026"/>
                      <a:pt x="1751254" y="623043"/>
                      <a:pt x="2283784" y="623043"/>
                    </a:cubicBezTo>
                    <a:cubicBezTo>
                      <a:pt x="2788287" y="623043"/>
                      <a:pt x="3243740" y="399028"/>
                      <a:pt x="3559054" y="49003"/>
                    </a:cubicBezTo>
                    <a:cubicBezTo>
                      <a:pt x="3587082" y="109820"/>
                      <a:pt x="3613358" y="166835"/>
                      <a:pt x="3637992" y="220288"/>
                    </a:cubicBezTo>
                    <a:lnTo>
                      <a:pt x="3701696" y="358517"/>
                    </a:lnTo>
                    <a:lnTo>
                      <a:pt x="3688081" y="380928"/>
                    </a:lnTo>
                    <a:cubicBezTo>
                      <a:pt x="3308871" y="942233"/>
                      <a:pt x="2666687" y="1311275"/>
                      <a:pt x="1938308" y="1311275"/>
                    </a:cubicBezTo>
                    <a:cubicBezTo>
                      <a:pt x="1137092" y="1311275"/>
                      <a:pt x="440170" y="864734"/>
                      <a:pt x="82839" y="206946"/>
                    </a:cubicBezTo>
                    <a:lnTo>
                      <a:pt x="0" y="34984"/>
                    </a:lnTo>
                    <a:lnTo>
                      <a:pt x="169719" y="28841"/>
                    </a:lnTo>
                    <a:cubicBezTo>
                      <a:pt x="966472" y="0"/>
                      <a:pt x="966472" y="0"/>
                      <a:pt x="966472" y="0"/>
                    </a:cubicBezTo>
                    <a:close/>
                  </a:path>
                </a:pathLst>
              </a:custGeom>
              <a:solidFill>
                <a:srgbClr val="F4EAF5"/>
              </a:solidFill>
              <a:ln>
                <a:noFill/>
              </a:ln>
            </p:spPr>
            <p:txBody>
              <a:bodyPr vert="horz" wrap="square" lIns="91440" tIns="45720" rIns="91440" bIns="45720" numCol="1" anchor="t" anchorCtr="0" compatLnSpc="1">
                <a:noAutofit/>
              </a:bodyPr>
              <a:lstStyle/>
              <a:p>
                <a:endParaRPr lang="en-US">
                  <a:solidFill>
                    <a:schemeClr val="tx1">
                      <a:lumMod val="75000"/>
                      <a:lumOff val="25000"/>
                    </a:schemeClr>
                  </a:solidFill>
                </a:endParaRPr>
              </a:p>
            </p:txBody>
          </p:sp>
          <p:sp>
            <p:nvSpPr>
              <p:cNvPr id="30" name="Freeform 26"/>
              <p:cNvSpPr>
                <a:spLocks noEditPoints="1"/>
              </p:cNvSpPr>
              <p:nvPr/>
            </p:nvSpPr>
            <p:spPr bwMode="auto">
              <a:xfrm>
                <a:off x="3979" y="6013"/>
                <a:ext cx="478" cy="579"/>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endParaRPr>
              </a:p>
            </p:txBody>
          </p:sp>
          <p:sp>
            <p:nvSpPr>
              <p:cNvPr id="31" name="Freeform 27"/>
              <p:cNvSpPr>
                <a:spLocks noEditPoints="1"/>
              </p:cNvSpPr>
              <p:nvPr/>
            </p:nvSpPr>
            <p:spPr bwMode="auto">
              <a:xfrm>
                <a:off x="7218" y="4220"/>
                <a:ext cx="418" cy="660"/>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endParaRPr>
              </a:p>
            </p:txBody>
          </p:sp>
          <p:sp>
            <p:nvSpPr>
              <p:cNvPr id="32" name="Freeform 28"/>
              <p:cNvSpPr>
                <a:spLocks noEditPoints="1"/>
              </p:cNvSpPr>
              <p:nvPr/>
            </p:nvSpPr>
            <p:spPr bwMode="auto">
              <a:xfrm>
                <a:off x="6870" y="8174"/>
                <a:ext cx="677" cy="548"/>
              </a:xfrm>
              <a:custGeom>
                <a:avLst/>
                <a:gdLst>
                  <a:gd name="T0" fmla="*/ 86 w 109"/>
                  <a:gd name="T1" fmla="*/ 88 h 88"/>
                  <a:gd name="T2" fmla="*/ 84 w 109"/>
                  <a:gd name="T3" fmla="*/ 44 h 88"/>
                  <a:gd name="T4" fmla="*/ 80 w 109"/>
                  <a:gd name="T5" fmla="*/ 71 h 88"/>
                  <a:gd name="T6" fmla="*/ 109 w 109"/>
                  <a:gd name="T7" fmla="*/ 0 h 88"/>
                  <a:gd name="T8" fmla="*/ 92 w 109"/>
                  <a:gd name="T9" fmla="*/ 33 h 88"/>
                  <a:gd name="T10" fmla="*/ 80 w 109"/>
                  <a:gd name="T11" fmla="*/ 25 h 88"/>
                  <a:gd name="T12" fmla="*/ 67 w 109"/>
                  <a:gd name="T13" fmla="*/ 68 h 88"/>
                  <a:gd name="T14" fmla="*/ 37 w 109"/>
                  <a:gd name="T15" fmla="*/ 73 h 88"/>
                  <a:gd name="T16" fmla="*/ 19 w 109"/>
                  <a:gd name="T17" fmla="*/ 63 h 88"/>
                  <a:gd name="T18" fmla="*/ 0 w 109"/>
                  <a:gd name="T19" fmla="*/ 56 h 88"/>
                  <a:gd name="T20" fmla="*/ 25 w 109"/>
                  <a:gd name="T21" fmla="*/ 48 h 88"/>
                  <a:gd name="T22" fmla="*/ 30 w 109"/>
                  <a:gd name="T23" fmla="*/ 57 h 88"/>
                  <a:gd name="T24" fmla="*/ 44 w 109"/>
                  <a:gd name="T25" fmla="*/ 29 h 88"/>
                  <a:gd name="T26" fmla="*/ 66 w 109"/>
                  <a:gd name="T27" fmla="*/ 50 h 88"/>
                  <a:gd name="T28" fmla="*/ 68 w 109"/>
                  <a:gd name="T29" fmla="*/ 18 h 88"/>
                  <a:gd name="T30" fmla="*/ 78 w 109"/>
                  <a:gd name="T31" fmla="*/ 12 h 88"/>
                  <a:gd name="T32" fmla="*/ 90 w 109"/>
                  <a:gd name="T33" fmla="*/ 1 h 88"/>
                  <a:gd name="T34" fmla="*/ 22 w 109"/>
                  <a:gd name="T35" fmla="*/ 88 h 88"/>
                  <a:gd name="T36" fmla="*/ 29 w 109"/>
                  <a:gd name="T37" fmla="*/ 80 h 88"/>
                  <a:gd name="T38" fmla="*/ 22 w 109"/>
                  <a:gd name="T39" fmla="*/ 79 h 88"/>
                  <a:gd name="T40" fmla="*/ 11 w 109"/>
                  <a:gd name="T41" fmla="*/ 88 h 88"/>
                  <a:gd name="T42" fmla="*/ 17 w 109"/>
                  <a:gd name="T43" fmla="*/ 71 h 88"/>
                  <a:gd name="T44" fmla="*/ 11 w 109"/>
                  <a:gd name="T45" fmla="*/ 73 h 88"/>
                  <a:gd name="T46" fmla="*/ 34 w 109"/>
                  <a:gd name="T47" fmla="*/ 88 h 88"/>
                  <a:gd name="T48" fmla="*/ 40 w 109"/>
                  <a:gd name="T49" fmla="*/ 79 h 88"/>
                  <a:gd name="T50" fmla="*/ 34 w 109"/>
                  <a:gd name="T51" fmla="*/ 80 h 88"/>
                  <a:gd name="T52" fmla="*/ 45 w 109"/>
                  <a:gd name="T53" fmla="*/ 88 h 88"/>
                  <a:gd name="T54" fmla="*/ 52 w 109"/>
                  <a:gd name="T55" fmla="*/ 63 h 88"/>
                  <a:gd name="T56" fmla="*/ 45 w 109"/>
                  <a:gd name="T57" fmla="*/ 69 h 88"/>
                  <a:gd name="T58" fmla="*/ 57 w 109"/>
                  <a:gd name="T59" fmla="*/ 88 h 88"/>
                  <a:gd name="T60" fmla="*/ 63 w 109"/>
                  <a:gd name="T61" fmla="*/ 73 h 88"/>
                  <a:gd name="T62" fmla="*/ 57 w 109"/>
                  <a:gd name="T63" fmla="*/ 88 h 88"/>
                  <a:gd name="T64" fmla="*/ 75 w 109"/>
                  <a:gd name="T65" fmla="*/ 88 h 88"/>
                  <a:gd name="T66" fmla="*/ 68 w 109"/>
                  <a:gd name="T67"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9" h="88">
                    <a:moveTo>
                      <a:pt x="80" y="88"/>
                    </a:moveTo>
                    <a:cubicBezTo>
                      <a:pt x="86" y="88"/>
                      <a:pt x="86" y="88"/>
                      <a:pt x="86" y="88"/>
                    </a:cubicBezTo>
                    <a:cubicBezTo>
                      <a:pt x="86" y="44"/>
                      <a:pt x="86" y="44"/>
                      <a:pt x="86" y="44"/>
                    </a:cubicBezTo>
                    <a:cubicBezTo>
                      <a:pt x="84" y="44"/>
                      <a:pt x="84" y="44"/>
                      <a:pt x="84" y="44"/>
                    </a:cubicBezTo>
                    <a:cubicBezTo>
                      <a:pt x="82" y="70"/>
                      <a:pt x="82" y="70"/>
                      <a:pt x="82" y="70"/>
                    </a:cubicBezTo>
                    <a:cubicBezTo>
                      <a:pt x="80" y="71"/>
                      <a:pt x="80" y="71"/>
                      <a:pt x="80" y="71"/>
                    </a:cubicBezTo>
                    <a:cubicBezTo>
                      <a:pt x="80" y="88"/>
                      <a:pt x="80" y="88"/>
                      <a:pt x="80" y="88"/>
                    </a:cubicBezTo>
                    <a:close/>
                    <a:moveTo>
                      <a:pt x="109" y="0"/>
                    </a:moveTo>
                    <a:cubicBezTo>
                      <a:pt x="100" y="17"/>
                      <a:pt x="100" y="17"/>
                      <a:pt x="100" y="17"/>
                    </a:cubicBezTo>
                    <a:cubicBezTo>
                      <a:pt x="92" y="33"/>
                      <a:pt x="92" y="33"/>
                      <a:pt x="92" y="33"/>
                    </a:cubicBezTo>
                    <a:cubicBezTo>
                      <a:pt x="84" y="22"/>
                      <a:pt x="84" y="22"/>
                      <a:pt x="84" y="22"/>
                    </a:cubicBezTo>
                    <a:cubicBezTo>
                      <a:pt x="80" y="25"/>
                      <a:pt x="80" y="25"/>
                      <a:pt x="80" y="25"/>
                    </a:cubicBezTo>
                    <a:cubicBezTo>
                      <a:pt x="77" y="64"/>
                      <a:pt x="77" y="64"/>
                      <a:pt x="77" y="64"/>
                    </a:cubicBezTo>
                    <a:cubicBezTo>
                      <a:pt x="67" y="68"/>
                      <a:pt x="67" y="68"/>
                      <a:pt x="67" y="68"/>
                    </a:cubicBezTo>
                    <a:cubicBezTo>
                      <a:pt x="48" y="50"/>
                      <a:pt x="48" y="50"/>
                      <a:pt x="48" y="50"/>
                    </a:cubicBezTo>
                    <a:cubicBezTo>
                      <a:pt x="37" y="73"/>
                      <a:pt x="37" y="73"/>
                      <a:pt x="37" y="73"/>
                    </a:cubicBezTo>
                    <a:cubicBezTo>
                      <a:pt x="26" y="73"/>
                      <a:pt x="26" y="73"/>
                      <a:pt x="26" y="73"/>
                    </a:cubicBezTo>
                    <a:cubicBezTo>
                      <a:pt x="19" y="63"/>
                      <a:pt x="19" y="63"/>
                      <a:pt x="19" y="63"/>
                    </a:cubicBezTo>
                    <a:cubicBezTo>
                      <a:pt x="4" y="67"/>
                      <a:pt x="4" y="67"/>
                      <a:pt x="4" y="67"/>
                    </a:cubicBezTo>
                    <a:cubicBezTo>
                      <a:pt x="0" y="56"/>
                      <a:pt x="0" y="56"/>
                      <a:pt x="0" y="56"/>
                    </a:cubicBezTo>
                    <a:cubicBezTo>
                      <a:pt x="20" y="50"/>
                      <a:pt x="20" y="50"/>
                      <a:pt x="20" y="50"/>
                    </a:cubicBezTo>
                    <a:cubicBezTo>
                      <a:pt x="25" y="48"/>
                      <a:pt x="25" y="48"/>
                      <a:pt x="25" y="48"/>
                    </a:cubicBezTo>
                    <a:cubicBezTo>
                      <a:pt x="27" y="52"/>
                      <a:pt x="27" y="52"/>
                      <a:pt x="27" y="52"/>
                    </a:cubicBezTo>
                    <a:cubicBezTo>
                      <a:pt x="30" y="57"/>
                      <a:pt x="30" y="57"/>
                      <a:pt x="30" y="57"/>
                    </a:cubicBezTo>
                    <a:cubicBezTo>
                      <a:pt x="40" y="37"/>
                      <a:pt x="40" y="37"/>
                      <a:pt x="40" y="37"/>
                    </a:cubicBezTo>
                    <a:cubicBezTo>
                      <a:pt x="44" y="29"/>
                      <a:pt x="44" y="29"/>
                      <a:pt x="44" y="29"/>
                    </a:cubicBezTo>
                    <a:cubicBezTo>
                      <a:pt x="50" y="35"/>
                      <a:pt x="50" y="35"/>
                      <a:pt x="50" y="35"/>
                    </a:cubicBezTo>
                    <a:cubicBezTo>
                      <a:pt x="66" y="50"/>
                      <a:pt x="66" y="50"/>
                      <a:pt x="66" y="50"/>
                    </a:cubicBezTo>
                    <a:cubicBezTo>
                      <a:pt x="68" y="21"/>
                      <a:pt x="68" y="21"/>
                      <a:pt x="68" y="21"/>
                    </a:cubicBezTo>
                    <a:cubicBezTo>
                      <a:pt x="68" y="18"/>
                      <a:pt x="68" y="18"/>
                      <a:pt x="68" y="18"/>
                    </a:cubicBezTo>
                    <a:cubicBezTo>
                      <a:pt x="71" y="16"/>
                      <a:pt x="71" y="16"/>
                      <a:pt x="71" y="16"/>
                    </a:cubicBezTo>
                    <a:cubicBezTo>
                      <a:pt x="78" y="12"/>
                      <a:pt x="78" y="12"/>
                      <a:pt x="78" y="12"/>
                    </a:cubicBezTo>
                    <a:cubicBezTo>
                      <a:pt x="72" y="2"/>
                      <a:pt x="72" y="2"/>
                      <a:pt x="72" y="2"/>
                    </a:cubicBezTo>
                    <a:cubicBezTo>
                      <a:pt x="90" y="1"/>
                      <a:pt x="90" y="1"/>
                      <a:pt x="90" y="1"/>
                    </a:cubicBezTo>
                    <a:cubicBezTo>
                      <a:pt x="109" y="0"/>
                      <a:pt x="109" y="0"/>
                      <a:pt x="109" y="0"/>
                    </a:cubicBezTo>
                    <a:close/>
                    <a:moveTo>
                      <a:pt x="22" y="88"/>
                    </a:moveTo>
                    <a:cubicBezTo>
                      <a:pt x="24" y="88"/>
                      <a:pt x="27" y="88"/>
                      <a:pt x="29" y="88"/>
                    </a:cubicBezTo>
                    <a:cubicBezTo>
                      <a:pt x="29" y="80"/>
                      <a:pt x="29" y="80"/>
                      <a:pt x="29" y="80"/>
                    </a:cubicBezTo>
                    <a:cubicBezTo>
                      <a:pt x="23" y="81"/>
                      <a:pt x="23" y="81"/>
                      <a:pt x="23" y="81"/>
                    </a:cubicBezTo>
                    <a:cubicBezTo>
                      <a:pt x="22" y="79"/>
                      <a:pt x="22" y="79"/>
                      <a:pt x="22" y="79"/>
                    </a:cubicBezTo>
                    <a:cubicBezTo>
                      <a:pt x="22" y="88"/>
                      <a:pt x="22" y="88"/>
                      <a:pt x="22" y="88"/>
                    </a:cubicBezTo>
                    <a:close/>
                    <a:moveTo>
                      <a:pt x="11" y="88"/>
                    </a:moveTo>
                    <a:cubicBezTo>
                      <a:pt x="17" y="88"/>
                      <a:pt x="17" y="88"/>
                      <a:pt x="17" y="88"/>
                    </a:cubicBezTo>
                    <a:cubicBezTo>
                      <a:pt x="17" y="71"/>
                      <a:pt x="17" y="71"/>
                      <a:pt x="17" y="71"/>
                    </a:cubicBezTo>
                    <a:cubicBezTo>
                      <a:pt x="17" y="71"/>
                      <a:pt x="17" y="71"/>
                      <a:pt x="17" y="71"/>
                    </a:cubicBezTo>
                    <a:cubicBezTo>
                      <a:pt x="11" y="73"/>
                      <a:pt x="11" y="73"/>
                      <a:pt x="11" y="73"/>
                    </a:cubicBezTo>
                    <a:cubicBezTo>
                      <a:pt x="11" y="88"/>
                      <a:pt x="11" y="88"/>
                      <a:pt x="11" y="88"/>
                    </a:cubicBezTo>
                    <a:close/>
                    <a:moveTo>
                      <a:pt x="34" y="88"/>
                    </a:moveTo>
                    <a:cubicBezTo>
                      <a:pt x="36" y="88"/>
                      <a:pt x="38" y="88"/>
                      <a:pt x="40" y="88"/>
                    </a:cubicBezTo>
                    <a:cubicBezTo>
                      <a:pt x="40" y="79"/>
                      <a:pt x="40" y="79"/>
                      <a:pt x="40" y="79"/>
                    </a:cubicBezTo>
                    <a:cubicBezTo>
                      <a:pt x="40" y="80"/>
                      <a:pt x="40" y="80"/>
                      <a:pt x="40" y="80"/>
                    </a:cubicBezTo>
                    <a:cubicBezTo>
                      <a:pt x="34" y="80"/>
                      <a:pt x="34" y="80"/>
                      <a:pt x="34" y="80"/>
                    </a:cubicBezTo>
                    <a:cubicBezTo>
                      <a:pt x="34" y="88"/>
                      <a:pt x="34" y="88"/>
                      <a:pt x="34" y="88"/>
                    </a:cubicBezTo>
                    <a:close/>
                    <a:moveTo>
                      <a:pt x="45" y="88"/>
                    </a:moveTo>
                    <a:cubicBezTo>
                      <a:pt x="47" y="88"/>
                      <a:pt x="50" y="88"/>
                      <a:pt x="52" y="88"/>
                    </a:cubicBezTo>
                    <a:cubicBezTo>
                      <a:pt x="52" y="63"/>
                      <a:pt x="52" y="63"/>
                      <a:pt x="52" y="63"/>
                    </a:cubicBezTo>
                    <a:cubicBezTo>
                      <a:pt x="49" y="60"/>
                      <a:pt x="49" y="60"/>
                      <a:pt x="49" y="60"/>
                    </a:cubicBezTo>
                    <a:cubicBezTo>
                      <a:pt x="45" y="69"/>
                      <a:pt x="45" y="69"/>
                      <a:pt x="45" y="69"/>
                    </a:cubicBezTo>
                    <a:cubicBezTo>
                      <a:pt x="45" y="88"/>
                      <a:pt x="45" y="88"/>
                      <a:pt x="45" y="88"/>
                    </a:cubicBezTo>
                    <a:close/>
                    <a:moveTo>
                      <a:pt x="57" y="88"/>
                    </a:moveTo>
                    <a:cubicBezTo>
                      <a:pt x="59" y="88"/>
                      <a:pt x="61" y="88"/>
                      <a:pt x="63" y="88"/>
                    </a:cubicBezTo>
                    <a:cubicBezTo>
                      <a:pt x="63" y="73"/>
                      <a:pt x="63" y="73"/>
                      <a:pt x="63" y="73"/>
                    </a:cubicBezTo>
                    <a:cubicBezTo>
                      <a:pt x="57" y="67"/>
                      <a:pt x="57" y="67"/>
                      <a:pt x="57" y="67"/>
                    </a:cubicBezTo>
                    <a:cubicBezTo>
                      <a:pt x="57" y="88"/>
                      <a:pt x="57" y="88"/>
                      <a:pt x="57" y="88"/>
                    </a:cubicBezTo>
                    <a:close/>
                    <a:moveTo>
                      <a:pt x="68" y="88"/>
                    </a:moveTo>
                    <a:cubicBezTo>
                      <a:pt x="70" y="88"/>
                      <a:pt x="73" y="88"/>
                      <a:pt x="75" y="88"/>
                    </a:cubicBezTo>
                    <a:cubicBezTo>
                      <a:pt x="75" y="72"/>
                      <a:pt x="75" y="72"/>
                      <a:pt x="75" y="72"/>
                    </a:cubicBezTo>
                    <a:cubicBezTo>
                      <a:pt x="68" y="75"/>
                      <a:pt x="68" y="75"/>
                      <a:pt x="68" y="75"/>
                    </a:cubicBezTo>
                    <a:lnTo>
                      <a:pt x="68" y="88"/>
                    </a:lnTo>
                    <a:close/>
                  </a:path>
                </a:pathLst>
              </a:custGeom>
              <a:solidFill>
                <a:schemeClr val="bg1"/>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lumMod val="75000"/>
                      <a:lumOff val="25000"/>
                    </a:schemeClr>
                  </a:solidFill>
                </a:endParaRPr>
              </a:p>
            </p:txBody>
          </p:sp>
        </p:grpSp>
        <p:sp>
          <p:nvSpPr>
            <p:cNvPr id="33" name="文本框 32"/>
            <p:cNvSpPr txBox="1"/>
            <p:nvPr/>
          </p:nvSpPr>
          <p:spPr>
            <a:xfrm>
              <a:off x="10745" y="4171"/>
              <a:ext cx="4714" cy="839"/>
            </a:xfrm>
            <a:prstGeom prst="rect">
              <a:avLst/>
            </a:prstGeom>
            <a:noFill/>
          </p:spPr>
          <p:txBody>
            <a:bodyPr wrap="square" rtlCol="0">
              <a:spAutoFit/>
            </a:bodyPr>
            <a:lstStyle/>
            <a:p>
              <a:pPr>
                <a:lnSpc>
                  <a:spcPct val="125000"/>
                </a:lnSpc>
              </a:pPr>
              <a:r>
                <a:rPr lang="zh-CN" altLang="en-US" sz="1200" dirty="0"/>
                <a:t>不同弹性系数、阻尼参数</a:t>
              </a:r>
              <a:endParaRPr lang="en-US" altLang="zh-CN" sz="1200" dirty="0"/>
            </a:p>
            <a:p>
              <a:pPr>
                <a:lnSpc>
                  <a:spcPct val="125000"/>
                </a:lnSpc>
              </a:pPr>
              <a:r>
                <a:rPr lang="zh-CN" altLang="en-US" sz="1200" dirty="0"/>
                <a:t>基础触觉反馈验证</a:t>
              </a:r>
              <a:endParaRPr lang="zh-CN" altLang="en-US" sz="12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2" name="文本框 1"/>
            <p:cNvSpPr txBox="1"/>
            <p:nvPr/>
          </p:nvSpPr>
          <p:spPr>
            <a:xfrm>
              <a:off x="10745" y="3758"/>
              <a:ext cx="3965" cy="533"/>
            </a:xfrm>
            <a:prstGeom prst="rect">
              <a:avLst/>
            </a:prstGeom>
            <a:noFill/>
          </p:spPr>
          <p:txBody>
            <a:bodyPr wrap="square" rtlCol="0">
              <a:spAutoFit/>
            </a:bodyPr>
            <a:lstStyle/>
            <a:p>
              <a:r>
                <a:rPr lang="zh-CN" altLang="en-US" sz="1600" dirty="0"/>
                <a:t>规则软体（立方体 </a:t>
              </a:r>
              <a:r>
                <a:rPr lang="en-US" altLang="zh-CN" sz="1600" dirty="0"/>
                <a:t>/ </a:t>
              </a:r>
              <a:r>
                <a:rPr lang="zh-CN" altLang="en-US" sz="1600" dirty="0"/>
                <a:t>球体）</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3" name="文本框 2"/>
            <p:cNvSpPr txBox="1"/>
            <p:nvPr/>
          </p:nvSpPr>
          <p:spPr>
            <a:xfrm>
              <a:off x="10745" y="6281"/>
              <a:ext cx="4714" cy="839"/>
            </a:xfrm>
            <a:prstGeom prst="rect">
              <a:avLst/>
            </a:prstGeom>
            <a:noFill/>
          </p:spPr>
          <p:txBody>
            <a:bodyPr wrap="square" rtlCol="0">
              <a:spAutoFit/>
            </a:bodyPr>
            <a:lstStyle/>
            <a:p>
              <a:pPr>
                <a:lnSpc>
                  <a:spcPct val="125000"/>
                </a:lnSpc>
              </a:pPr>
              <a:r>
                <a:rPr lang="zh-CN" altLang="en-US" sz="1200" dirty="0"/>
                <a:t>低刚度、高延展性</a:t>
              </a:r>
              <a:endParaRPr lang="en-US" altLang="zh-CN" sz="1200" dirty="0"/>
            </a:p>
            <a:p>
              <a:pPr>
                <a:lnSpc>
                  <a:spcPct val="125000"/>
                </a:lnSpc>
              </a:pPr>
              <a:r>
                <a:rPr lang="zh-CN" altLang="en-US" sz="1200" dirty="0"/>
                <a:t>形变与纹理触摸实验</a:t>
              </a:r>
              <a:endParaRPr lang="zh-CN" altLang="en-US" sz="12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4" name="文本框 3"/>
            <p:cNvSpPr txBox="1"/>
            <p:nvPr/>
          </p:nvSpPr>
          <p:spPr>
            <a:xfrm>
              <a:off x="10745" y="5869"/>
              <a:ext cx="2975" cy="533"/>
            </a:xfrm>
            <a:prstGeom prst="rect">
              <a:avLst/>
            </a:prstGeom>
            <a:noFill/>
          </p:spPr>
          <p:txBody>
            <a:bodyPr wrap="square" rtlCol="0">
              <a:spAutoFit/>
            </a:bodyPr>
            <a:lstStyle/>
            <a:p>
              <a:r>
                <a:rPr lang="zh-CN" altLang="en-US" sz="1600" dirty="0"/>
                <a:t>柔性布料垫</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37" name="文本框 36"/>
            <p:cNvSpPr txBox="1"/>
            <p:nvPr/>
          </p:nvSpPr>
          <p:spPr>
            <a:xfrm>
              <a:off x="10745" y="8472"/>
              <a:ext cx="4987" cy="839"/>
            </a:xfrm>
            <a:prstGeom prst="rect">
              <a:avLst/>
            </a:prstGeom>
            <a:noFill/>
          </p:spPr>
          <p:txBody>
            <a:bodyPr wrap="square" rtlCol="0">
              <a:spAutoFit/>
            </a:bodyPr>
            <a:lstStyle/>
            <a:p>
              <a:pPr>
                <a:lnSpc>
                  <a:spcPct val="125000"/>
                </a:lnSpc>
              </a:pPr>
              <a:r>
                <a:rPr lang="zh-CN" altLang="en-US" sz="1200" dirty="0"/>
                <a:t>基于 </a:t>
              </a:r>
              <a:r>
                <a:rPr lang="en-US" altLang="zh-CN" sz="1200" dirty="0" err="1"/>
                <a:t>Gmsh</a:t>
              </a:r>
              <a:r>
                <a:rPr lang="en-US" altLang="zh-CN" sz="1200" dirty="0"/>
                <a:t> </a:t>
              </a:r>
              <a:r>
                <a:rPr lang="zh-CN" altLang="en-US" sz="1200" dirty="0"/>
                <a:t>网格建模，贴近人体组织力学特性</a:t>
              </a:r>
              <a:endParaRPr lang="en-US" altLang="zh-CN" sz="1200" dirty="0"/>
            </a:p>
            <a:p>
              <a:pPr>
                <a:lnSpc>
                  <a:spcPct val="125000"/>
                </a:lnSpc>
              </a:pPr>
              <a:r>
                <a:rPr lang="zh-CN" altLang="en-US" sz="1200" dirty="0"/>
                <a:t>医学仿真场景适配</a:t>
              </a:r>
              <a:endParaRPr lang="zh-CN" altLang="en-US" sz="1200" dirty="0">
                <a:sym typeface="阿里巴巴普惠体 R" panose="00020600040101010101" pitchFamily="18" charset="-122"/>
              </a:endParaRPr>
            </a:p>
          </p:txBody>
        </p:sp>
        <p:sp>
          <p:nvSpPr>
            <p:cNvPr id="5" name="文本框 4"/>
            <p:cNvSpPr txBox="1"/>
            <p:nvPr/>
          </p:nvSpPr>
          <p:spPr>
            <a:xfrm>
              <a:off x="10745" y="8060"/>
              <a:ext cx="3962" cy="533"/>
            </a:xfrm>
            <a:prstGeom prst="rect">
              <a:avLst/>
            </a:prstGeom>
            <a:noFill/>
          </p:spPr>
          <p:txBody>
            <a:bodyPr wrap="square" rtlCol="0">
              <a:spAutoFit/>
            </a:bodyPr>
            <a:lstStyle/>
            <a:p>
              <a:r>
                <a:rPr lang="zh-CN" altLang="en-US" sz="1600" dirty="0"/>
                <a:t>生物组织（肾脏 </a:t>
              </a:r>
              <a:r>
                <a:rPr lang="en-US" altLang="zh-CN" sz="1600" dirty="0"/>
                <a:t>/ </a:t>
              </a:r>
              <a:r>
                <a:rPr lang="zh-CN" altLang="en-US" sz="1600" dirty="0"/>
                <a:t>肝脏）</a:t>
              </a:r>
              <a:endParaRPr lang="zh-CN" altLang="en-US" sz="1600"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6" name="文本框 5"/>
            <p:cNvSpPr txBox="1"/>
            <p:nvPr/>
          </p:nvSpPr>
          <p:spPr>
            <a:xfrm>
              <a:off x="5412" y="6134"/>
              <a:ext cx="1987" cy="1018"/>
            </a:xfrm>
            <a:prstGeom prst="rect">
              <a:avLst/>
            </a:prstGeom>
            <a:noFill/>
          </p:spPr>
          <p:txBody>
            <a:bodyPr wrap="square" rtlCol="0">
              <a:spAutoFit/>
            </a:bodyPr>
            <a:lstStyle/>
            <a:p>
              <a:pPr algn="ctr"/>
              <a:r>
                <a:rPr lang="zh-CN" altLang="en-US" dirty="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可变形物体模型库</a:t>
              </a:r>
            </a:p>
          </p:txBody>
        </p:sp>
      </p:gr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F7048-C43B-D45C-E313-191225C6DBCC}"/>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3CAA1B7-676A-19D6-9810-22F91A0F43F1}"/>
              </a:ext>
            </a:extLst>
          </p:cNvPr>
          <p:cNvSpPr/>
          <p:nvPr/>
        </p:nvSpPr>
        <p:spPr>
          <a:xfrm>
            <a:off x="0" y="793750"/>
            <a:ext cx="12192000" cy="68560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381E4D04-71A8-1955-E604-08CF853552FA}"/>
              </a:ext>
            </a:extLst>
          </p:cNvPr>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a:extLst>
              <a:ext uri="{FF2B5EF4-FFF2-40B4-BE49-F238E27FC236}">
                <a16:creationId xmlns:a16="http://schemas.microsoft.com/office/drawing/2014/main" id="{26A27064-7778-1778-A7C0-1BD1799038EB}"/>
              </a:ext>
            </a:extLst>
          </p:cNvPr>
          <p:cNvSpPr txBox="1"/>
          <p:nvPr/>
        </p:nvSpPr>
        <p:spPr>
          <a:xfrm>
            <a:off x="4223911" y="-136305"/>
            <a:ext cx="3744178" cy="1292662"/>
          </a:xfrm>
          <a:prstGeom prst="rect">
            <a:avLst/>
          </a:prstGeom>
          <a:noFill/>
        </p:spPr>
        <p:txBody>
          <a:bodyPr wrap="square" lIns="0" tIns="0" rIns="0" bIns="0" rtlCol="0" anchor="ctr">
            <a:spAutoFit/>
          </a:bodyPr>
          <a:lstStyle/>
          <a:p>
            <a:pPr algn="ctr"/>
            <a:endParaRPr lang="en-US" altLang="zh-CN" sz="2800" dirty="0">
              <a:solidFill>
                <a:srgbClr val="CF7F9F"/>
              </a:solidFill>
            </a:endParaRPr>
          </a:p>
          <a:p>
            <a:pPr algn="ctr"/>
            <a:r>
              <a:rPr lang="zh-CN" altLang="en-US" sz="28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核心设计细节</a:t>
            </a:r>
            <a:r>
              <a:rPr lang="en-US" altLang="zh-CN" sz="28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2</a:t>
            </a:r>
            <a:endParaRPr lang="zh-CN" altLang="en-US" sz="28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a:p>
            <a:pPr algn="ctr"/>
            <a:endParaRPr lang="zh-CN" altLang="zh-CN" sz="2800" dirty="0">
              <a:solidFill>
                <a:srgbClr val="CF7F9F"/>
              </a:solidFill>
              <a:effectLst/>
            </a:endParaRPr>
          </a:p>
        </p:txBody>
      </p:sp>
      <p:grpSp>
        <p:nvGrpSpPr>
          <p:cNvPr id="35" name="组合 34">
            <a:extLst>
              <a:ext uri="{FF2B5EF4-FFF2-40B4-BE49-F238E27FC236}">
                <a16:creationId xmlns:a16="http://schemas.microsoft.com/office/drawing/2014/main" id="{D9E0D367-6963-C7C1-E7D6-EADAEB0F01B1}"/>
              </a:ext>
            </a:extLst>
          </p:cNvPr>
          <p:cNvGrpSpPr/>
          <p:nvPr/>
        </p:nvGrpSpPr>
        <p:grpSpPr>
          <a:xfrm>
            <a:off x="840658" y="561638"/>
            <a:ext cx="10510685" cy="0"/>
            <a:chOff x="1028775" y="591989"/>
            <a:chExt cx="11086097" cy="0"/>
          </a:xfrm>
        </p:grpSpPr>
        <p:cxnSp>
          <p:nvCxnSpPr>
            <p:cNvPr id="36" name="直接连接符 35">
              <a:extLst>
                <a:ext uri="{FF2B5EF4-FFF2-40B4-BE49-F238E27FC236}">
                  <a16:creationId xmlns:a16="http://schemas.microsoft.com/office/drawing/2014/main" id="{A4010E93-0F32-4D76-F5EB-AECA039B4219}"/>
                </a:ext>
              </a:extLst>
            </p:cNvPr>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E484209-F871-9C30-5F3A-D1F33F035716}"/>
                </a:ext>
              </a:extLst>
            </p:cNvPr>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34B0057-E63B-DF61-F9E4-FFE653EE4213}"/>
              </a:ext>
            </a:extLst>
          </p:cNvPr>
          <p:cNvSpPr txBox="1"/>
          <p:nvPr/>
        </p:nvSpPr>
        <p:spPr>
          <a:xfrm>
            <a:off x="1739900" y="2045738"/>
            <a:ext cx="8921750" cy="2492990"/>
          </a:xfrm>
          <a:prstGeom prst="rect">
            <a:avLst/>
          </a:prstGeom>
          <a:noFill/>
        </p:spPr>
        <p:txBody>
          <a:bodyPr wrap="square" rtlCol="0">
            <a:spAutoFit/>
          </a:bodyPr>
          <a:lstStyle/>
          <a:p>
            <a:r>
              <a:rPr lang="zh-CN" altLang="en-US" sz="2400" dirty="0">
                <a:solidFill>
                  <a:srgbClr val="CF7F9F"/>
                </a:solidFill>
              </a:rPr>
              <a:t>触觉反馈机制：</a:t>
            </a:r>
          </a:p>
          <a:p>
            <a:r>
              <a:rPr lang="zh-CN" altLang="en-US" dirty="0">
                <a:solidFill>
                  <a:srgbClr val="DFAAC0"/>
                </a:solidFill>
              </a:rPr>
              <a:t>        力值通道：通过 </a:t>
            </a:r>
            <a:r>
              <a:rPr lang="en-US" altLang="zh-CN" dirty="0" err="1">
                <a:solidFill>
                  <a:srgbClr val="DFAAC0"/>
                </a:solidFill>
              </a:rPr>
              <a:t>MuJoCo</a:t>
            </a:r>
            <a:r>
              <a:rPr lang="en-US" altLang="zh-CN" dirty="0">
                <a:solidFill>
                  <a:srgbClr val="DFAAC0"/>
                </a:solidFill>
              </a:rPr>
              <a:t> touch </a:t>
            </a:r>
            <a:r>
              <a:rPr lang="zh-CN" altLang="en-US" dirty="0">
                <a:solidFill>
                  <a:srgbClr val="DFAAC0"/>
                </a:solidFill>
              </a:rPr>
              <a:t>传感器检测接触力，归一化后驱动手套触觉单元。</a:t>
            </a:r>
          </a:p>
          <a:p>
            <a:r>
              <a:rPr lang="zh-CN" altLang="en-US" dirty="0">
                <a:solidFill>
                  <a:srgbClr val="DFAAC0"/>
                </a:solidFill>
              </a:rPr>
              <a:t>        纹理通道：预定义纹理映射表（如橡胶、岩石、花岗岩），根据接触物体类型实现差异化反馈。</a:t>
            </a:r>
          </a:p>
          <a:p>
            <a:r>
              <a:rPr lang="zh-CN" altLang="en-US" sz="2400" dirty="0">
                <a:solidFill>
                  <a:srgbClr val="CF7F9F"/>
                </a:solidFill>
              </a:rPr>
              <a:t>多线程控制框架：</a:t>
            </a:r>
          </a:p>
          <a:p>
            <a:r>
              <a:rPr lang="zh-CN" altLang="en-US" dirty="0">
                <a:solidFill>
                  <a:srgbClr val="DFAAC0"/>
                </a:solidFill>
              </a:rPr>
              <a:t>        视觉渲染线程：保证 </a:t>
            </a:r>
            <a:r>
              <a:rPr lang="en-US" altLang="zh-CN" dirty="0">
                <a:solidFill>
                  <a:srgbClr val="DFAAC0"/>
                </a:solidFill>
              </a:rPr>
              <a:t>VR </a:t>
            </a:r>
            <a:r>
              <a:rPr lang="zh-CN" altLang="en-US" dirty="0">
                <a:solidFill>
                  <a:srgbClr val="DFAAC0"/>
                </a:solidFill>
              </a:rPr>
              <a:t>环境帧率稳定。</a:t>
            </a:r>
          </a:p>
          <a:p>
            <a:r>
              <a:rPr lang="zh-CN" altLang="en-US" dirty="0">
                <a:solidFill>
                  <a:srgbClr val="DFAAC0"/>
                </a:solidFill>
              </a:rPr>
              <a:t>        物理计算线程：实时更新可变形物体状态与接触力。</a:t>
            </a:r>
          </a:p>
          <a:p>
            <a:r>
              <a:rPr lang="zh-CN" altLang="en-US" dirty="0">
                <a:solidFill>
                  <a:srgbClr val="DFAAC0"/>
                </a:solidFill>
              </a:rPr>
              <a:t>        触觉驱动线程：同步传输触觉信号，确保时空一致性。 </a:t>
            </a:r>
          </a:p>
        </p:txBody>
      </p:sp>
    </p:spTree>
    <p:custDataLst>
      <p:tags r:id="rId1"/>
    </p:custDataLst>
    <p:extLst>
      <p:ext uri="{BB962C8B-B14F-4D97-AF65-F5344CB8AC3E}">
        <p14:creationId xmlns:p14="http://schemas.microsoft.com/office/powerpoint/2010/main" val="187637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C5FC-947B-449C-6704-AD0FD2E370D9}"/>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4CB72CD0-3E28-0649-7123-258A34B55794}"/>
              </a:ext>
            </a:extLst>
          </p:cNvPr>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a:extLst>
              <a:ext uri="{FF2B5EF4-FFF2-40B4-BE49-F238E27FC236}">
                <a16:creationId xmlns:a16="http://schemas.microsoft.com/office/drawing/2014/main" id="{920D5D8E-4521-3492-2383-96F82C25336D}"/>
              </a:ext>
            </a:extLst>
          </p:cNvPr>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a:extLst>
              <a:ext uri="{FF2B5EF4-FFF2-40B4-BE49-F238E27FC236}">
                <a16:creationId xmlns:a16="http://schemas.microsoft.com/office/drawing/2014/main" id="{B4294F7F-2F5C-C02D-AF26-4FCAD277A122}"/>
              </a:ext>
            </a:extLst>
          </p:cNvPr>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grpSp>
        <p:nvGrpSpPr>
          <p:cNvPr id="3" name="组合 2">
            <a:extLst>
              <a:ext uri="{FF2B5EF4-FFF2-40B4-BE49-F238E27FC236}">
                <a16:creationId xmlns:a16="http://schemas.microsoft.com/office/drawing/2014/main" id="{D45B1FC5-7995-EA94-BAB7-9748702C0435}"/>
              </a:ext>
            </a:extLst>
          </p:cNvPr>
          <p:cNvGrpSpPr/>
          <p:nvPr/>
        </p:nvGrpSpPr>
        <p:grpSpPr>
          <a:xfrm>
            <a:off x="4503418" y="2685415"/>
            <a:ext cx="3185160" cy="1487170"/>
            <a:chOff x="7093" y="3758"/>
            <a:chExt cx="5016" cy="2342"/>
          </a:xfrm>
          <a:solidFill>
            <a:schemeClr val="bg1">
              <a:alpha val="82000"/>
            </a:schemeClr>
          </a:solidFill>
        </p:grpSpPr>
        <p:sp>
          <p:nvSpPr>
            <p:cNvPr id="14" name="TextBox 8">
              <a:extLst>
                <a:ext uri="{FF2B5EF4-FFF2-40B4-BE49-F238E27FC236}">
                  <a16:creationId xmlns:a16="http://schemas.microsoft.com/office/drawing/2014/main" id="{A9E03660-A57E-F298-1949-894DA4DAB638}"/>
                </a:ext>
              </a:extLst>
            </p:cNvPr>
            <p:cNvSpPr txBox="1"/>
            <p:nvPr/>
          </p:nvSpPr>
          <p:spPr>
            <a:xfrm>
              <a:off x="8986" y="3758"/>
              <a:ext cx="1159" cy="1095"/>
            </a:xfrm>
            <a:prstGeom prst="rect">
              <a:avLst/>
            </a:prstGeom>
            <a:grpFill/>
          </p:spPr>
          <p:txBody>
            <a:bodyPr wrap="none" rtlCol="0">
              <a:spAutoFit/>
            </a:bodyPr>
            <a:lstStyle/>
            <a:p>
              <a:pPr algn="r">
                <a:lnSpc>
                  <a:spcPts val="5000"/>
                </a:lnSpc>
              </a:pPr>
              <a:r>
                <a:rPr lang="zh-CN" altLang="en-US" sz="4000" spc="300" dirty="0">
                  <a:solidFill>
                    <a:srgbClr val="DFAAC0"/>
                  </a:solidFill>
                  <a:effectLst>
                    <a:outerShdw blurRad="38100" dist="38100" dir="2700000" algn="tl">
                      <a:srgbClr val="000000">
                        <a:alpha val="43137"/>
                      </a:srgbClr>
                    </a:outerShdw>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伍</a:t>
              </a:r>
            </a:p>
          </p:txBody>
        </p:sp>
        <p:sp>
          <p:nvSpPr>
            <p:cNvPr id="15" name="TextBox 1">
              <a:extLst>
                <a:ext uri="{FF2B5EF4-FFF2-40B4-BE49-F238E27FC236}">
                  <a16:creationId xmlns:a16="http://schemas.microsoft.com/office/drawing/2014/main" id="{3198D4B9-E994-C301-0A31-8C44DBC135E6}"/>
                </a:ext>
              </a:extLst>
            </p:cNvPr>
            <p:cNvSpPr txBox="1"/>
            <p:nvPr/>
          </p:nvSpPr>
          <p:spPr>
            <a:xfrm>
              <a:off x="7093" y="4917"/>
              <a:ext cx="5016" cy="1183"/>
            </a:xfrm>
            <a:prstGeom prst="rect">
              <a:avLst/>
            </a:prstGeom>
            <a:grpFill/>
          </p:spPr>
          <p:txBody>
            <a:bodyPr wrap="square" lIns="0" tIns="0" rIns="0" rtlCol="0">
              <a:spAutoFit/>
            </a:bodyPr>
            <a:lstStyle/>
            <a:p>
              <a:pPr algn="ctr">
                <a:lnSpc>
                  <a:spcPct val="120000"/>
                </a:lnSpc>
              </a:pPr>
              <a:r>
                <a:rPr lang="zh-CN" altLang="en-US" sz="2000" dirty="0">
                  <a:solidFill>
                    <a:srgbClr val="DFAAC0"/>
                  </a:solidFill>
                  <a:ea typeface="阿里巴巴普惠体 R" panose="00020600040101010101" pitchFamily="18" charset="-122"/>
                </a:rPr>
                <a:t>实验设计方案</a:t>
              </a:r>
            </a:p>
            <a:p>
              <a:pPr algn="ctr">
                <a:lnSpc>
                  <a:spcPct val="120000"/>
                </a:lnSpc>
              </a:pPr>
              <a:endParaRPr lang="zh-CN" altLang="en-US" sz="2000" dirty="0">
                <a:solidFill>
                  <a:srgbClr val="DFAAC0"/>
                </a:solidFill>
                <a:ea typeface="阿里巴巴普惠体 R" panose="00020600040101010101" pitchFamily="18" charset="-122"/>
              </a:endParaRPr>
            </a:p>
          </p:txBody>
        </p:sp>
      </p:grpSp>
    </p:spTree>
    <p:custDataLst>
      <p:tags r:id="rId1"/>
    </p:custDataLst>
    <p:extLst>
      <p:ext uri="{BB962C8B-B14F-4D97-AF65-F5344CB8AC3E}">
        <p14:creationId xmlns:p14="http://schemas.microsoft.com/office/powerpoint/2010/main" val="4186117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C7957-864C-362D-1C77-2356133585B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B3C2E88-D032-991C-7A2E-2783D4C9743B}"/>
              </a:ext>
            </a:extLst>
          </p:cNvPr>
          <p:cNvSpPr/>
          <p:nvPr/>
        </p:nvSpPr>
        <p:spPr>
          <a:xfrm>
            <a:off x="0" y="793750"/>
            <a:ext cx="12192000" cy="68560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1EDBF8F2-9EF5-D41A-8515-881301E53B28}"/>
              </a:ext>
            </a:extLst>
          </p:cNvPr>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a:extLst>
              <a:ext uri="{FF2B5EF4-FFF2-40B4-BE49-F238E27FC236}">
                <a16:creationId xmlns:a16="http://schemas.microsoft.com/office/drawing/2014/main" id="{D4A1F112-6215-08F7-5E47-B61E29350721}"/>
              </a:ext>
            </a:extLst>
          </p:cNvPr>
          <p:cNvSpPr txBox="1"/>
          <p:nvPr/>
        </p:nvSpPr>
        <p:spPr>
          <a:xfrm>
            <a:off x="4223911" y="294582"/>
            <a:ext cx="3744178" cy="430887"/>
          </a:xfrm>
          <a:prstGeom prst="rect">
            <a:avLst/>
          </a:prstGeom>
          <a:noFill/>
        </p:spPr>
        <p:txBody>
          <a:bodyPr wrap="square" lIns="0" tIns="0" rIns="0" bIns="0" rtlCol="0" anchor="ctr">
            <a:spAutoFit/>
          </a:bodyPr>
          <a:lstStyle/>
          <a:p>
            <a:pPr algn="ctr"/>
            <a:r>
              <a:rPr lang="zh-CN" altLang="en-US" sz="2800" dirty="0">
                <a:solidFill>
                  <a:srgbClr val="CF7F9F"/>
                </a:solidFill>
                <a:effectLst/>
              </a:rPr>
              <a:t>实验设计方案</a:t>
            </a:r>
            <a:endParaRPr lang="zh-CN" altLang="zh-CN" sz="2800" dirty="0">
              <a:solidFill>
                <a:srgbClr val="CF7F9F"/>
              </a:solidFill>
              <a:effectLst/>
            </a:endParaRPr>
          </a:p>
        </p:txBody>
      </p:sp>
      <p:grpSp>
        <p:nvGrpSpPr>
          <p:cNvPr id="35" name="组合 34">
            <a:extLst>
              <a:ext uri="{FF2B5EF4-FFF2-40B4-BE49-F238E27FC236}">
                <a16:creationId xmlns:a16="http://schemas.microsoft.com/office/drawing/2014/main" id="{8D619BDE-4311-85EC-63ED-C8DE1231723F}"/>
              </a:ext>
            </a:extLst>
          </p:cNvPr>
          <p:cNvGrpSpPr/>
          <p:nvPr/>
        </p:nvGrpSpPr>
        <p:grpSpPr>
          <a:xfrm>
            <a:off x="840658" y="561638"/>
            <a:ext cx="10510685" cy="0"/>
            <a:chOff x="1028775" y="591989"/>
            <a:chExt cx="11086097" cy="0"/>
          </a:xfrm>
        </p:grpSpPr>
        <p:cxnSp>
          <p:nvCxnSpPr>
            <p:cNvPr id="36" name="直接连接符 35">
              <a:extLst>
                <a:ext uri="{FF2B5EF4-FFF2-40B4-BE49-F238E27FC236}">
                  <a16:creationId xmlns:a16="http://schemas.microsoft.com/office/drawing/2014/main" id="{9EB35461-990F-2979-A714-46CD0DBB80CA}"/>
                </a:ext>
              </a:extLst>
            </p:cNvPr>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8200AB18-979B-EEC0-890F-FDA33DBBA900}"/>
                </a:ext>
              </a:extLst>
            </p:cNvPr>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3A6F1E09-0C02-6862-4204-C6B1C11429E0}"/>
              </a:ext>
            </a:extLst>
          </p:cNvPr>
          <p:cNvSpPr txBox="1"/>
          <p:nvPr/>
        </p:nvSpPr>
        <p:spPr>
          <a:xfrm>
            <a:off x="1739900" y="2045738"/>
            <a:ext cx="8921750" cy="2535951"/>
          </a:xfrm>
          <a:prstGeom prst="rect">
            <a:avLst/>
          </a:prstGeom>
          <a:noFill/>
        </p:spPr>
        <p:txBody>
          <a:bodyPr wrap="square" rtlCol="0">
            <a:spAutoFit/>
          </a:bodyPr>
          <a:lstStyle/>
          <a:p>
            <a:pPr indent="457200">
              <a:lnSpc>
                <a:spcPct val="150000"/>
              </a:lnSpc>
            </a:pPr>
            <a:r>
              <a:rPr lang="zh-CN" altLang="en-US" dirty="0">
                <a:solidFill>
                  <a:srgbClr val="CF7F9F"/>
                </a:solidFill>
              </a:rPr>
              <a:t>本次实验旨在验证触觉反馈对可变形物体操作任务的提升效果，并量化评估系统的实时性、稳定性与触觉真实感。实验招募 </a:t>
            </a:r>
            <a:r>
              <a:rPr lang="en-US" altLang="zh-CN" dirty="0">
                <a:solidFill>
                  <a:srgbClr val="CF7F9F"/>
                </a:solidFill>
              </a:rPr>
              <a:t>15 - 20 </a:t>
            </a:r>
            <a:r>
              <a:rPr lang="zh-CN" altLang="en-US" dirty="0">
                <a:solidFill>
                  <a:srgbClr val="CF7F9F"/>
                </a:solidFill>
              </a:rPr>
              <a:t>名具备基础 </a:t>
            </a:r>
            <a:r>
              <a:rPr lang="en-US" altLang="zh-CN" dirty="0">
                <a:solidFill>
                  <a:srgbClr val="CF7F9F"/>
                </a:solidFill>
              </a:rPr>
              <a:t>VR </a:t>
            </a:r>
            <a:r>
              <a:rPr lang="zh-CN" altLang="en-US" dirty="0">
                <a:solidFill>
                  <a:srgbClr val="CF7F9F"/>
                </a:solidFill>
              </a:rPr>
              <a:t>操作经验的受试者，将其分为对照组和实验组，对照组关闭触觉反馈仅靠 </a:t>
            </a:r>
            <a:r>
              <a:rPr lang="en-US" altLang="zh-CN" dirty="0">
                <a:solidFill>
                  <a:srgbClr val="CF7F9F"/>
                </a:solidFill>
              </a:rPr>
              <a:t>VR </a:t>
            </a:r>
            <a:r>
              <a:rPr lang="zh-CN" altLang="en-US" dirty="0">
                <a:solidFill>
                  <a:srgbClr val="CF7F9F"/>
                </a:solidFill>
              </a:rPr>
              <a:t>视觉完成任务，实验组开启触觉反馈以视触融合方式完成任务。设置基础、精细、模拟三类标准化任务，同时固定仿真环境参数、任务流程和硬件配置以确保公平。实验过程中采集任务耗时、操作成功率等客观数据，以及受试者对触觉真实感、操作舒适度评分等主观数据。</a:t>
            </a:r>
          </a:p>
        </p:txBody>
      </p:sp>
    </p:spTree>
    <p:custDataLst>
      <p:tags r:id="rId1"/>
    </p:custDataLst>
    <p:extLst>
      <p:ext uri="{BB962C8B-B14F-4D97-AF65-F5344CB8AC3E}">
        <p14:creationId xmlns:p14="http://schemas.microsoft.com/office/powerpoint/2010/main" val="952109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BA219-5B8C-85E0-FBF7-8D8186A6F8B0}"/>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8CE08149-B97C-8F86-7B4E-02030D7FDA1F}"/>
              </a:ext>
            </a:extLst>
          </p:cNvPr>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a:extLst>
              <a:ext uri="{FF2B5EF4-FFF2-40B4-BE49-F238E27FC236}">
                <a16:creationId xmlns:a16="http://schemas.microsoft.com/office/drawing/2014/main" id="{592D7557-57CE-E9B8-F33D-FDFE1B624B71}"/>
              </a:ext>
            </a:extLst>
          </p:cNvPr>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a:extLst>
              <a:ext uri="{FF2B5EF4-FFF2-40B4-BE49-F238E27FC236}">
                <a16:creationId xmlns:a16="http://schemas.microsoft.com/office/drawing/2014/main" id="{CA41E4BE-465F-BD6F-D38D-A37CBCE6BB7C}"/>
              </a:ext>
            </a:extLst>
          </p:cNvPr>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grpSp>
        <p:nvGrpSpPr>
          <p:cNvPr id="3" name="组合 2">
            <a:extLst>
              <a:ext uri="{FF2B5EF4-FFF2-40B4-BE49-F238E27FC236}">
                <a16:creationId xmlns:a16="http://schemas.microsoft.com/office/drawing/2014/main" id="{75C224F3-0F17-7455-103C-DDF64165187B}"/>
              </a:ext>
            </a:extLst>
          </p:cNvPr>
          <p:cNvGrpSpPr/>
          <p:nvPr/>
        </p:nvGrpSpPr>
        <p:grpSpPr>
          <a:xfrm>
            <a:off x="4503418" y="2685415"/>
            <a:ext cx="3185160" cy="1487170"/>
            <a:chOff x="7093" y="3758"/>
            <a:chExt cx="5016" cy="2342"/>
          </a:xfrm>
          <a:solidFill>
            <a:schemeClr val="bg1">
              <a:alpha val="82000"/>
            </a:schemeClr>
          </a:solidFill>
        </p:grpSpPr>
        <p:sp>
          <p:nvSpPr>
            <p:cNvPr id="14" name="TextBox 8">
              <a:extLst>
                <a:ext uri="{FF2B5EF4-FFF2-40B4-BE49-F238E27FC236}">
                  <a16:creationId xmlns:a16="http://schemas.microsoft.com/office/drawing/2014/main" id="{ACD89D87-3F77-A566-742E-37127DE9923B}"/>
                </a:ext>
              </a:extLst>
            </p:cNvPr>
            <p:cNvSpPr txBox="1"/>
            <p:nvPr/>
          </p:nvSpPr>
          <p:spPr>
            <a:xfrm>
              <a:off x="8986" y="3758"/>
              <a:ext cx="1159" cy="1095"/>
            </a:xfrm>
            <a:prstGeom prst="rect">
              <a:avLst/>
            </a:prstGeom>
            <a:grpFill/>
          </p:spPr>
          <p:txBody>
            <a:bodyPr wrap="none" rtlCol="0">
              <a:spAutoFit/>
            </a:bodyPr>
            <a:lstStyle/>
            <a:p>
              <a:pPr algn="r">
                <a:lnSpc>
                  <a:spcPts val="5000"/>
                </a:lnSpc>
              </a:pPr>
              <a:r>
                <a:rPr lang="zh-CN" altLang="en-US" sz="4000" spc="300" dirty="0">
                  <a:solidFill>
                    <a:srgbClr val="DFAAC0"/>
                  </a:solidFill>
                  <a:effectLst>
                    <a:outerShdw blurRad="38100" dist="38100" dir="2700000" algn="tl">
                      <a:srgbClr val="000000">
                        <a:alpha val="43137"/>
                      </a:srgbClr>
                    </a:outerShdw>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陆</a:t>
              </a:r>
            </a:p>
          </p:txBody>
        </p:sp>
        <p:sp>
          <p:nvSpPr>
            <p:cNvPr id="15" name="TextBox 1">
              <a:extLst>
                <a:ext uri="{FF2B5EF4-FFF2-40B4-BE49-F238E27FC236}">
                  <a16:creationId xmlns:a16="http://schemas.microsoft.com/office/drawing/2014/main" id="{E1A7039C-AF1C-1025-D56C-465BFCE2EACA}"/>
                </a:ext>
              </a:extLst>
            </p:cNvPr>
            <p:cNvSpPr txBox="1"/>
            <p:nvPr/>
          </p:nvSpPr>
          <p:spPr>
            <a:xfrm>
              <a:off x="7093" y="4917"/>
              <a:ext cx="5016" cy="1183"/>
            </a:xfrm>
            <a:prstGeom prst="rect">
              <a:avLst/>
            </a:prstGeom>
            <a:grpFill/>
          </p:spPr>
          <p:txBody>
            <a:bodyPr wrap="square" lIns="0" tIns="0" rIns="0" rtlCol="0">
              <a:spAutoFit/>
            </a:bodyPr>
            <a:lstStyle/>
            <a:p>
              <a:pPr algn="ctr">
                <a:lnSpc>
                  <a:spcPct val="120000"/>
                </a:lnSpc>
              </a:pPr>
              <a:r>
                <a:rPr lang="zh-CN" altLang="en-US" sz="2000" dirty="0">
                  <a:solidFill>
                    <a:srgbClr val="DFAAC0"/>
                  </a:solidFill>
                  <a:ea typeface="阿里巴巴普惠体 R" panose="00020600040101010101" pitchFamily="18" charset="-122"/>
                </a:rPr>
                <a:t>实验设计方案</a:t>
              </a:r>
            </a:p>
            <a:p>
              <a:pPr algn="ctr">
                <a:lnSpc>
                  <a:spcPct val="120000"/>
                </a:lnSpc>
              </a:pPr>
              <a:endParaRPr lang="zh-CN" altLang="en-US" sz="2000" dirty="0">
                <a:solidFill>
                  <a:srgbClr val="DFAAC0"/>
                </a:solidFill>
                <a:ea typeface="阿里巴巴普惠体 R" panose="00020600040101010101" pitchFamily="18" charset="-122"/>
              </a:endParaRPr>
            </a:p>
          </p:txBody>
        </p:sp>
      </p:grpSp>
    </p:spTree>
    <p:custDataLst>
      <p:tags r:id="rId1"/>
    </p:custDataLst>
    <p:extLst>
      <p:ext uri="{BB962C8B-B14F-4D97-AF65-F5344CB8AC3E}">
        <p14:creationId xmlns:p14="http://schemas.microsoft.com/office/powerpoint/2010/main" val="3104397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9" name="图片 38"/>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p:cNvSpPr txBox="1"/>
          <p:nvPr/>
        </p:nvSpPr>
        <p:spPr>
          <a:xfrm>
            <a:off x="4223911" y="338258"/>
            <a:ext cx="3744178" cy="368935"/>
          </a:xfrm>
          <a:prstGeom prst="rect">
            <a:avLst/>
          </a:prstGeom>
          <a:noFill/>
        </p:spPr>
        <p:txBody>
          <a:bodyPr wrap="square" lIns="0" tIns="0" rIns="0" bIns="0" rtlCol="0" anchor="ctr">
            <a:spAutoFit/>
          </a:bodyPr>
          <a:lstStyle/>
          <a:p>
            <a:pPr algn="ctr"/>
            <a:r>
              <a:rPr lang="zh-CN" altLang="en-US" sz="24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请输入您的标题</a:t>
            </a:r>
          </a:p>
        </p:txBody>
      </p:sp>
      <p:grpSp>
        <p:nvGrpSpPr>
          <p:cNvPr id="35" name="组合 34"/>
          <p:cNvGrpSpPr/>
          <p:nvPr/>
        </p:nvGrpSpPr>
        <p:grpSpPr>
          <a:xfrm>
            <a:off x="840658" y="561638"/>
            <a:ext cx="10510685" cy="0"/>
            <a:chOff x="1028775" y="591989"/>
            <a:chExt cx="11086097" cy="0"/>
          </a:xfrm>
        </p:grpSpPr>
        <p:cxnSp>
          <p:nvCxnSpPr>
            <p:cNvPr id="36" name="直接连接符 35"/>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589499" y="1868170"/>
            <a:ext cx="9438005" cy="3106420"/>
            <a:chOff x="2194" y="2992"/>
            <a:chExt cx="14863" cy="4892"/>
          </a:xfrm>
        </p:grpSpPr>
        <p:sp>
          <p:nvSpPr>
            <p:cNvPr id="64" name="Pentagon 63"/>
            <p:cNvSpPr/>
            <p:nvPr/>
          </p:nvSpPr>
          <p:spPr>
            <a:xfrm rot="5400000">
              <a:off x="2577" y="4164"/>
              <a:ext cx="2362" cy="2520"/>
            </a:xfrm>
            <a:prstGeom prst="homePlate">
              <a:avLst/>
            </a:prstGeom>
            <a:solidFill>
              <a:srgbClr val="DFAA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2315">
                <a:cs typeface="+mn-ea"/>
                <a:sym typeface="+mn-lt"/>
              </a:endParaRPr>
            </a:p>
          </p:txBody>
        </p:sp>
        <p:sp>
          <p:nvSpPr>
            <p:cNvPr id="65" name="Rectangle 64"/>
            <p:cNvSpPr/>
            <p:nvPr/>
          </p:nvSpPr>
          <p:spPr>
            <a:xfrm>
              <a:off x="2498" y="2992"/>
              <a:ext cx="2520" cy="1250"/>
            </a:xfrm>
            <a:prstGeom prst="rect">
              <a:avLst/>
            </a:prstGeom>
            <a:solidFill>
              <a:srgbClr val="95D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dirty="0"/>
                <a:t>任务性能指标</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66" name="Freeform 182"/>
            <p:cNvSpPr>
              <a:spLocks noEditPoints="1"/>
            </p:cNvSpPr>
            <p:nvPr/>
          </p:nvSpPr>
          <p:spPr bwMode="auto">
            <a:xfrm>
              <a:off x="3305" y="4712"/>
              <a:ext cx="905" cy="846"/>
            </a:xfrm>
            <a:custGeom>
              <a:avLst/>
              <a:gdLst/>
              <a:ahLst/>
              <a:cxnLst>
                <a:cxn ang="0">
                  <a:pos x="70" y="24"/>
                </a:cxn>
                <a:cxn ang="0">
                  <a:pos x="29" y="50"/>
                </a:cxn>
                <a:cxn ang="0">
                  <a:pos x="0" y="26"/>
                </a:cxn>
                <a:cxn ang="0">
                  <a:pos x="42" y="0"/>
                </a:cxn>
                <a:cxn ang="0">
                  <a:pos x="70" y="24"/>
                </a:cxn>
                <a:cxn ang="0">
                  <a:pos x="70" y="74"/>
                </a:cxn>
                <a:cxn ang="0">
                  <a:pos x="42" y="98"/>
                </a:cxn>
                <a:cxn ang="0">
                  <a:pos x="0" y="72"/>
                </a:cxn>
                <a:cxn ang="0">
                  <a:pos x="29" y="50"/>
                </a:cxn>
                <a:cxn ang="0">
                  <a:pos x="70" y="74"/>
                </a:cxn>
                <a:cxn ang="0">
                  <a:pos x="109" y="104"/>
                </a:cxn>
                <a:cxn ang="0">
                  <a:pos x="70" y="128"/>
                </a:cxn>
                <a:cxn ang="0">
                  <a:pos x="70" y="128"/>
                </a:cxn>
                <a:cxn ang="0">
                  <a:pos x="70" y="128"/>
                </a:cxn>
                <a:cxn ang="0">
                  <a:pos x="70" y="128"/>
                </a:cxn>
                <a:cxn ang="0">
                  <a:pos x="70" y="128"/>
                </a:cxn>
                <a:cxn ang="0">
                  <a:pos x="29" y="104"/>
                </a:cxn>
                <a:cxn ang="0">
                  <a:pos x="29" y="95"/>
                </a:cxn>
                <a:cxn ang="0">
                  <a:pos x="42" y="102"/>
                </a:cxn>
                <a:cxn ang="0">
                  <a:pos x="70" y="78"/>
                </a:cxn>
                <a:cxn ang="0">
                  <a:pos x="70" y="78"/>
                </a:cxn>
                <a:cxn ang="0">
                  <a:pos x="70" y="78"/>
                </a:cxn>
                <a:cxn ang="0">
                  <a:pos x="70" y="78"/>
                </a:cxn>
                <a:cxn ang="0">
                  <a:pos x="70" y="78"/>
                </a:cxn>
                <a:cxn ang="0">
                  <a:pos x="98" y="102"/>
                </a:cxn>
                <a:cxn ang="0">
                  <a:pos x="109" y="95"/>
                </a:cxn>
                <a:cxn ang="0">
                  <a:pos x="109" y="104"/>
                </a:cxn>
                <a:cxn ang="0">
                  <a:pos x="137" y="26"/>
                </a:cxn>
                <a:cxn ang="0">
                  <a:pos x="111" y="50"/>
                </a:cxn>
                <a:cxn ang="0">
                  <a:pos x="70" y="24"/>
                </a:cxn>
                <a:cxn ang="0">
                  <a:pos x="98" y="0"/>
                </a:cxn>
                <a:cxn ang="0">
                  <a:pos x="137" y="26"/>
                </a:cxn>
                <a:cxn ang="0">
                  <a:pos x="137" y="72"/>
                </a:cxn>
                <a:cxn ang="0">
                  <a:pos x="98" y="98"/>
                </a:cxn>
                <a:cxn ang="0">
                  <a:pos x="70" y="74"/>
                </a:cxn>
                <a:cxn ang="0">
                  <a:pos x="111" y="50"/>
                </a:cxn>
                <a:cxn ang="0">
                  <a:pos x="137" y="72"/>
                </a:cxn>
              </a:cxnLst>
              <a:rect l="0" t="0" r="r" b="b"/>
              <a:pathLst>
                <a:path w="137" h="128">
                  <a:moveTo>
                    <a:pt x="70" y="24"/>
                  </a:moveTo>
                  <a:lnTo>
                    <a:pt x="29" y="50"/>
                  </a:lnTo>
                  <a:lnTo>
                    <a:pt x="0" y="26"/>
                  </a:lnTo>
                  <a:lnTo>
                    <a:pt x="42" y="0"/>
                  </a:lnTo>
                  <a:lnTo>
                    <a:pt x="70" y="24"/>
                  </a:lnTo>
                  <a:close/>
                  <a:moveTo>
                    <a:pt x="70" y="74"/>
                  </a:moveTo>
                  <a:lnTo>
                    <a:pt x="42" y="98"/>
                  </a:lnTo>
                  <a:lnTo>
                    <a:pt x="0" y="72"/>
                  </a:lnTo>
                  <a:lnTo>
                    <a:pt x="29" y="50"/>
                  </a:lnTo>
                  <a:lnTo>
                    <a:pt x="70" y="74"/>
                  </a:lnTo>
                  <a:close/>
                  <a:moveTo>
                    <a:pt x="109" y="104"/>
                  </a:moveTo>
                  <a:lnTo>
                    <a:pt x="70" y="128"/>
                  </a:lnTo>
                  <a:lnTo>
                    <a:pt x="70" y="128"/>
                  </a:lnTo>
                  <a:lnTo>
                    <a:pt x="70" y="128"/>
                  </a:lnTo>
                  <a:lnTo>
                    <a:pt x="70" y="128"/>
                  </a:lnTo>
                  <a:lnTo>
                    <a:pt x="70" y="128"/>
                  </a:lnTo>
                  <a:lnTo>
                    <a:pt x="29" y="104"/>
                  </a:lnTo>
                  <a:lnTo>
                    <a:pt x="29" y="95"/>
                  </a:lnTo>
                  <a:lnTo>
                    <a:pt x="42" y="102"/>
                  </a:lnTo>
                  <a:lnTo>
                    <a:pt x="70" y="78"/>
                  </a:lnTo>
                  <a:lnTo>
                    <a:pt x="70" y="78"/>
                  </a:lnTo>
                  <a:lnTo>
                    <a:pt x="70" y="78"/>
                  </a:lnTo>
                  <a:lnTo>
                    <a:pt x="70" y="78"/>
                  </a:lnTo>
                  <a:lnTo>
                    <a:pt x="70" y="78"/>
                  </a:lnTo>
                  <a:lnTo>
                    <a:pt x="98" y="102"/>
                  </a:lnTo>
                  <a:lnTo>
                    <a:pt x="109" y="95"/>
                  </a:lnTo>
                  <a:lnTo>
                    <a:pt x="109" y="104"/>
                  </a:lnTo>
                  <a:close/>
                  <a:moveTo>
                    <a:pt x="137" y="26"/>
                  </a:moveTo>
                  <a:lnTo>
                    <a:pt x="111" y="50"/>
                  </a:lnTo>
                  <a:lnTo>
                    <a:pt x="70" y="24"/>
                  </a:lnTo>
                  <a:lnTo>
                    <a:pt x="98" y="0"/>
                  </a:lnTo>
                  <a:lnTo>
                    <a:pt x="137" y="26"/>
                  </a:lnTo>
                  <a:close/>
                  <a:moveTo>
                    <a:pt x="137" y="72"/>
                  </a:moveTo>
                  <a:lnTo>
                    <a:pt x="98" y="98"/>
                  </a:lnTo>
                  <a:lnTo>
                    <a:pt x="70" y="74"/>
                  </a:lnTo>
                  <a:lnTo>
                    <a:pt x="111" y="50"/>
                  </a:lnTo>
                  <a:lnTo>
                    <a:pt x="137" y="72"/>
                  </a:lnTo>
                  <a:close/>
                </a:path>
              </a:pathLst>
            </a:custGeom>
            <a:solidFill>
              <a:schemeClr val="bg1"/>
            </a:solidFill>
            <a:ln w="9525">
              <a:noFill/>
              <a:round/>
            </a:ln>
          </p:spPr>
          <p:txBody>
            <a:bodyPr vert="horz" wrap="square" lIns="105859" tIns="52929" rIns="105859" bIns="52929" numCol="1" anchor="t" anchorCtr="0" compatLnSpc="1"/>
            <a:lstStyle/>
            <a:p>
              <a:pPr>
                <a:lnSpc>
                  <a:spcPct val="120000"/>
                </a:lnSpc>
              </a:pPr>
              <a:endParaRPr lang="en-US" sz="2315">
                <a:cs typeface="+mn-ea"/>
                <a:sym typeface="+mn-lt"/>
              </a:endParaRPr>
            </a:p>
          </p:txBody>
        </p:sp>
        <p:sp>
          <p:nvSpPr>
            <p:cNvPr id="67" name="Pentagon 66"/>
            <p:cNvSpPr/>
            <p:nvPr/>
          </p:nvSpPr>
          <p:spPr>
            <a:xfrm rot="5400000">
              <a:off x="5502" y="4164"/>
              <a:ext cx="2362" cy="2520"/>
            </a:xfrm>
            <a:prstGeom prst="homePlate">
              <a:avLst/>
            </a:prstGeom>
            <a:solidFill>
              <a:srgbClr val="DFAA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2315">
                <a:cs typeface="+mn-ea"/>
                <a:sym typeface="+mn-lt"/>
              </a:endParaRPr>
            </a:p>
          </p:txBody>
        </p:sp>
        <p:sp>
          <p:nvSpPr>
            <p:cNvPr id="68" name="Rectangle 67"/>
            <p:cNvSpPr/>
            <p:nvPr/>
          </p:nvSpPr>
          <p:spPr>
            <a:xfrm>
              <a:off x="5423" y="2992"/>
              <a:ext cx="2520" cy="1250"/>
            </a:xfrm>
            <a:prstGeom prst="rect">
              <a:avLst/>
            </a:prstGeom>
            <a:solidFill>
              <a:srgbClr val="95D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dirty="0"/>
                <a:t>任务性能指标</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69" name="Freeform 172"/>
            <p:cNvSpPr>
              <a:spLocks noEditPoints="1"/>
            </p:cNvSpPr>
            <p:nvPr/>
          </p:nvSpPr>
          <p:spPr bwMode="auto">
            <a:xfrm>
              <a:off x="6233" y="4807"/>
              <a:ext cx="901" cy="656"/>
            </a:xfrm>
            <a:custGeom>
              <a:avLst/>
              <a:gdLst/>
              <a:ahLst/>
              <a:cxnLst>
                <a:cxn ang="0">
                  <a:pos x="59" y="53"/>
                </a:cxn>
                <a:cxn ang="0">
                  <a:pos x="17" y="53"/>
                </a:cxn>
                <a:cxn ang="0">
                  <a:pos x="0" y="36"/>
                </a:cxn>
                <a:cxn ang="0">
                  <a:pos x="10" y="21"/>
                </a:cxn>
                <a:cxn ang="0">
                  <a:pos x="10" y="19"/>
                </a:cxn>
                <a:cxn ang="0">
                  <a:pos x="30" y="0"/>
                </a:cxn>
                <a:cxn ang="0">
                  <a:pos x="48" y="12"/>
                </a:cxn>
                <a:cxn ang="0">
                  <a:pos x="54" y="9"/>
                </a:cxn>
                <a:cxn ang="0">
                  <a:pos x="64" y="19"/>
                </a:cxn>
                <a:cxn ang="0">
                  <a:pos x="62" y="24"/>
                </a:cxn>
                <a:cxn ang="0">
                  <a:pos x="73" y="38"/>
                </a:cxn>
                <a:cxn ang="0">
                  <a:pos x="59" y="53"/>
                </a:cxn>
                <a:cxn ang="0">
                  <a:pos x="49" y="27"/>
                </a:cxn>
                <a:cxn ang="0">
                  <a:pos x="35" y="13"/>
                </a:cxn>
                <a:cxn ang="0">
                  <a:pos x="34" y="13"/>
                </a:cxn>
                <a:cxn ang="0">
                  <a:pos x="34" y="13"/>
                </a:cxn>
                <a:cxn ang="0">
                  <a:pos x="20" y="27"/>
                </a:cxn>
                <a:cxn ang="0">
                  <a:pos x="20" y="27"/>
                </a:cxn>
                <a:cxn ang="0">
                  <a:pos x="21" y="29"/>
                </a:cxn>
                <a:cxn ang="0">
                  <a:pos x="30" y="29"/>
                </a:cxn>
                <a:cxn ang="0">
                  <a:pos x="30" y="42"/>
                </a:cxn>
                <a:cxn ang="0">
                  <a:pos x="31" y="43"/>
                </a:cxn>
                <a:cxn ang="0">
                  <a:pos x="38" y="43"/>
                </a:cxn>
                <a:cxn ang="0">
                  <a:pos x="39" y="42"/>
                </a:cxn>
                <a:cxn ang="0">
                  <a:pos x="39" y="29"/>
                </a:cxn>
                <a:cxn ang="0">
                  <a:pos x="48" y="29"/>
                </a:cxn>
                <a:cxn ang="0">
                  <a:pos x="49" y="27"/>
                </a:cxn>
                <a:cxn ang="0">
                  <a:pos x="49" y="27"/>
                </a:cxn>
              </a:cxnLst>
              <a:rect l="0" t="0" r="r" b="b"/>
              <a:pathLst>
                <a:path w="73" h="53">
                  <a:moveTo>
                    <a:pt x="59" y="53"/>
                  </a:moveTo>
                  <a:cubicBezTo>
                    <a:pt x="17" y="53"/>
                    <a:pt x="17" y="53"/>
                    <a:pt x="17" y="53"/>
                  </a:cubicBezTo>
                  <a:cubicBezTo>
                    <a:pt x="8" y="53"/>
                    <a:pt x="0" y="45"/>
                    <a:pt x="0" y="36"/>
                  </a:cubicBezTo>
                  <a:cubicBezTo>
                    <a:pt x="0" y="29"/>
                    <a:pt x="4" y="23"/>
                    <a:pt x="10" y="21"/>
                  </a:cubicBezTo>
                  <a:cubicBezTo>
                    <a:pt x="10" y="20"/>
                    <a:pt x="10" y="20"/>
                    <a:pt x="10" y="19"/>
                  </a:cubicBezTo>
                  <a:cubicBezTo>
                    <a:pt x="10" y="8"/>
                    <a:pt x="19" y="0"/>
                    <a:pt x="30" y="0"/>
                  </a:cubicBezTo>
                  <a:cubicBezTo>
                    <a:pt x="37" y="0"/>
                    <a:pt x="45" y="4"/>
                    <a:pt x="48" y="12"/>
                  </a:cubicBezTo>
                  <a:cubicBezTo>
                    <a:pt x="49" y="10"/>
                    <a:pt x="52" y="9"/>
                    <a:pt x="54" y="9"/>
                  </a:cubicBezTo>
                  <a:cubicBezTo>
                    <a:pt x="59" y="9"/>
                    <a:pt x="64" y="14"/>
                    <a:pt x="64" y="19"/>
                  </a:cubicBezTo>
                  <a:cubicBezTo>
                    <a:pt x="64" y="21"/>
                    <a:pt x="63" y="23"/>
                    <a:pt x="62" y="24"/>
                  </a:cubicBezTo>
                  <a:cubicBezTo>
                    <a:pt x="69" y="26"/>
                    <a:pt x="73" y="32"/>
                    <a:pt x="73" y="38"/>
                  </a:cubicBezTo>
                  <a:cubicBezTo>
                    <a:pt x="73" y="46"/>
                    <a:pt x="67" y="53"/>
                    <a:pt x="59" y="53"/>
                  </a:cubicBezTo>
                  <a:close/>
                  <a:moveTo>
                    <a:pt x="49" y="27"/>
                  </a:moveTo>
                  <a:cubicBezTo>
                    <a:pt x="35" y="13"/>
                    <a:pt x="35" y="13"/>
                    <a:pt x="35" y="13"/>
                  </a:cubicBezTo>
                  <a:cubicBezTo>
                    <a:pt x="35" y="13"/>
                    <a:pt x="35" y="13"/>
                    <a:pt x="34" y="13"/>
                  </a:cubicBezTo>
                  <a:cubicBezTo>
                    <a:pt x="34" y="13"/>
                    <a:pt x="34" y="13"/>
                    <a:pt x="34" y="13"/>
                  </a:cubicBezTo>
                  <a:cubicBezTo>
                    <a:pt x="20" y="27"/>
                    <a:pt x="20" y="27"/>
                    <a:pt x="20" y="27"/>
                  </a:cubicBezTo>
                  <a:cubicBezTo>
                    <a:pt x="20" y="27"/>
                    <a:pt x="20" y="27"/>
                    <a:pt x="20" y="27"/>
                  </a:cubicBezTo>
                  <a:cubicBezTo>
                    <a:pt x="20" y="28"/>
                    <a:pt x="20" y="29"/>
                    <a:pt x="21" y="29"/>
                  </a:cubicBezTo>
                  <a:cubicBezTo>
                    <a:pt x="30" y="29"/>
                    <a:pt x="30" y="29"/>
                    <a:pt x="30" y="29"/>
                  </a:cubicBezTo>
                  <a:cubicBezTo>
                    <a:pt x="30" y="42"/>
                    <a:pt x="30" y="42"/>
                    <a:pt x="30" y="42"/>
                  </a:cubicBezTo>
                  <a:cubicBezTo>
                    <a:pt x="30" y="43"/>
                    <a:pt x="30" y="43"/>
                    <a:pt x="31" y="43"/>
                  </a:cubicBezTo>
                  <a:cubicBezTo>
                    <a:pt x="38" y="43"/>
                    <a:pt x="38" y="43"/>
                    <a:pt x="38" y="43"/>
                  </a:cubicBezTo>
                  <a:cubicBezTo>
                    <a:pt x="39" y="43"/>
                    <a:pt x="39" y="43"/>
                    <a:pt x="39" y="42"/>
                  </a:cubicBezTo>
                  <a:cubicBezTo>
                    <a:pt x="39" y="29"/>
                    <a:pt x="39" y="29"/>
                    <a:pt x="39" y="29"/>
                  </a:cubicBezTo>
                  <a:cubicBezTo>
                    <a:pt x="48" y="29"/>
                    <a:pt x="48" y="29"/>
                    <a:pt x="48" y="29"/>
                  </a:cubicBezTo>
                  <a:cubicBezTo>
                    <a:pt x="49" y="29"/>
                    <a:pt x="49" y="28"/>
                    <a:pt x="49" y="27"/>
                  </a:cubicBezTo>
                  <a:cubicBezTo>
                    <a:pt x="49" y="27"/>
                    <a:pt x="49" y="27"/>
                    <a:pt x="49" y="27"/>
                  </a:cubicBezTo>
                  <a:close/>
                </a:path>
              </a:pathLst>
            </a:custGeom>
            <a:solidFill>
              <a:schemeClr val="bg1"/>
            </a:solidFill>
            <a:ln w="9525">
              <a:noFill/>
              <a:round/>
            </a:ln>
          </p:spPr>
          <p:txBody>
            <a:bodyPr vert="horz" wrap="square" lIns="105859" tIns="52929" rIns="105859" bIns="52929" numCol="1" anchor="t" anchorCtr="0" compatLnSpc="1"/>
            <a:lstStyle/>
            <a:p>
              <a:pPr>
                <a:lnSpc>
                  <a:spcPct val="120000"/>
                </a:lnSpc>
              </a:pPr>
              <a:endParaRPr lang="en-US" sz="2315">
                <a:latin typeface="思源黑体 CN Bold" panose="020B0800000000000000" charset="-122"/>
                <a:ea typeface="思源黑体 CN Bold" panose="020B0800000000000000" charset="-122"/>
                <a:cs typeface="+mn-ea"/>
                <a:sym typeface="+mn-lt"/>
              </a:endParaRPr>
            </a:p>
          </p:txBody>
        </p:sp>
        <p:sp>
          <p:nvSpPr>
            <p:cNvPr id="70" name="Pentagon 69"/>
            <p:cNvSpPr/>
            <p:nvPr/>
          </p:nvSpPr>
          <p:spPr>
            <a:xfrm rot="5400000">
              <a:off x="8428" y="4164"/>
              <a:ext cx="2362" cy="2520"/>
            </a:xfrm>
            <a:prstGeom prst="homePlate">
              <a:avLst/>
            </a:prstGeom>
            <a:solidFill>
              <a:srgbClr val="DFAA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2315">
                <a:cs typeface="+mn-ea"/>
                <a:sym typeface="+mn-lt"/>
              </a:endParaRPr>
            </a:p>
          </p:txBody>
        </p:sp>
        <p:sp>
          <p:nvSpPr>
            <p:cNvPr id="71" name="Rectangle 70"/>
            <p:cNvSpPr/>
            <p:nvPr/>
          </p:nvSpPr>
          <p:spPr>
            <a:xfrm>
              <a:off x="8349" y="2992"/>
              <a:ext cx="2520" cy="1250"/>
            </a:xfrm>
            <a:prstGeom prst="rect">
              <a:avLst/>
            </a:prstGeom>
            <a:solidFill>
              <a:srgbClr val="95D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dirty="0"/>
                <a:t>交互质量指标</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72" name="Freeform 122"/>
            <p:cNvSpPr>
              <a:spLocks noEditPoints="1"/>
            </p:cNvSpPr>
            <p:nvPr/>
          </p:nvSpPr>
          <p:spPr bwMode="auto">
            <a:xfrm>
              <a:off x="9328" y="4731"/>
              <a:ext cx="562" cy="808"/>
            </a:xfrm>
            <a:custGeom>
              <a:avLst/>
              <a:gdLst/>
              <a:ahLst/>
              <a:cxnLst>
                <a:cxn ang="0">
                  <a:pos x="41" y="29"/>
                </a:cxn>
                <a:cxn ang="0">
                  <a:pos x="23" y="50"/>
                </a:cxn>
                <a:cxn ang="0">
                  <a:pos x="23" y="55"/>
                </a:cxn>
                <a:cxn ang="0">
                  <a:pos x="32" y="55"/>
                </a:cxn>
                <a:cxn ang="0">
                  <a:pos x="34" y="57"/>
                </a:cxn>
                <a:cxn ang="0">
                  <a:pos x="32" y="59"/>
                </a:cxn>
                <a:cxn ang="0">
                  <a:pos x="9" y="59"/>
                </a:cxn>
                <a:cxn ang="0">
                  <a:pos x="7" y="57"/>
                </a:cxn>
                <a:cxn ang="0">
                  <a:pos x="9" y="55"/>
                </a:cxn>
                <a:cxn ang="0">
                  <a:pos x="18" y="55"/>
                </a:cxn>
                <a:cxn ang="0">
                  <a:pos x="18" y="50"/>
                </a:cxn>
                <a:cxn ang="0">
                  <a:pos x="0" y="29"/>
                </a:cxn>
                <a:cxn ang="0">
                  <a:pos x="0" y="25"/>
                </a:cxn>
                <a:cxn ang="0">
                  <a:pos x="2" y="23"/>
                </a:cxn>
                <a:cxn ang="0">
                  <a:pos x="4" y="25"/>
                </a:cxn>
                <a:cxn ang="0">
                  <a:pos x="4" y="29"/>
                </a:cxn>
                <a:cxn ang="0">
                  <a:pos x="20" y="45"/>
                </a:cxn>
                <a:cxn ang="0">
                  <a:pos x="36" y="29"/>
                </a:cxn>
                <a:cxn ang="0">
                  <a:pos x="36" y="25"/>
                </a:cxn>
                <a:cxn ang="0">
                  <a:pos x="39" y="23"/>
                </a:cxn>
                <a:cxn ang="0">
                  <a:pos x="41" y="25"/>
                </a:cxn>
                <a:cxn ang="0">
                  <a:pos x="41" y="29"/>
                </a:cxn>
                <a:cxn ang="0">
                  <a:pos x="32" y="29"/>
                </a:cxn>
                <a:cxn ang="0">
                  <a:pos x="20" y="41"/>
                </a:cxn>
                <a:cxn ang="0">
                  <a:pos x="9" y="29"/>
                </a:cxn>
                <a:cxn ang="0">
                  <a:pos x="9" y="11"/>
                </a:cxn>
                <a:cxn ang="0">
                  <a:pos x="20" y="0"/>
                </a:cxn>
                <a:cxn ang="0">
                  <a:pos x="32" y="11"/>
                </a:cxn>
                <a:cxn ang="0">
                  <a:pos x="32" y="29"/>
                </a:cxn>
              </a:cxnLst>
              <a:rect l="0" t="0" r="r" b="b"/>
              <a:pathLst>
                <a:path w="41" h="59">
                  <a:moveTo>
                    <a:pt x="41" y="29"/>
                  </a:moveTo>
                  <a:cubicBezTo>
                    <a:pt x="41" y="40"/>
                    <a:pt x="33" y="49"/>
                    <a:pt x="23" y="50"/>
                  </a:cubicBezTo>
                  <a:cubicBezTo>
                    <a:pt x="23" y="55"/>
                    <a:pt x="23" y="55"/>
                    <a:pt x="23" y="55"/>
                  </a:cubicBezTo>
                  <a:cubicBezTo>
                    <a:pt x="32" y="55"/>
                    <a:pt x="32" y="55"/>
                    <a:pt x="32" y="55"/>
                  </a:cubicBezTo>
                  <a:cubicBezTo>
                    <a:pt x="33" y="55"/>
                    <a:pt x="34" y="56"/>
                    <a:pt x="34" y="57"/>
                  </a:cubicBezTo>
                  <a:cubicBezTo>
                    <a:pt x="34" y="58"/>
                    <a:pt x="33" y="59"/>
                    <a:pt x="32" y="59"/>
                  </a:cubicBezTo>
                  <a:cubicBezTo>
                    <a:pt x="9" y="59"/>
                    <a:pt x="9" y="59"/>
                    <a:pt x="9" y="59"/>
                  </a:cubicBezTo>
                  <a:cubicBezTo>
                    <a:pt x="8" y="59"/>
                    <a:pt x="7" y="58"/>
                    <a:pt x="7" y="57"/>
                  </a:cubicBezTo>
                  <a:cubicBezTo>
                    <a:pt x="7" y="56"/>
                    <a:pt x="8" y="55"/>
                    <a:pt x="9" y="55"/>
                  </a:cubicBezTo>
                  <a:cubicBezTo>
                    <a:pt x="18" y="55"/>
                    <a:pt x="18" y="55"/>
                    <a:pt x="18" y="55"/>
                  </a:cubicBezTo>
                  <a:cubicBezTo>
                    <a:pt x="18" y="50"/>
                    <a:pt x="18" y="50"/>
                    <a:pt x="18" y="50"/>
                  </a:cubicBezTo>
                  <a:cubicBezTo>
                    <a:pt x="8" y="49"/>
                    <a:pt x="0" y="40"/>
                    <a:pt x="0" y="29"/>
                  </a:cubicBezTo>
                  <a:cubicBezTo>
                    <a:pt x="0" y="25"/>
                    <a:pt x="0" y="25"/>
                    <a:pt x="0" y="25"/>
                  </a:cubicBezTo>
                  <a:cubicBezTo>
                    <a:pt x="0" y="24"/>
                    <a:pt x="1" y="23"/>
                    <a:pt x="2" y="23"/>
                  </a:cubicBezTo>
                  <a:cubicBezTo>
                    <a:pt x="3" y="23"/>
                    <a:pt x="4" y="24"/>
                    <a:pt x="4" y="25"/>
                  </a:cubicBezTo>
                  <a:cubicBezTo>
                    <a:pt x="4" y="29"/>
                    <a:pt x="4" y="29"/>
                    <a:pt x="4" y="29"/>
                  </a:cubicBezTo>
                  <a:cubicBezTo>
                    <a:pt x="4" y="38"/>
                    <a:pt x="12" y="45"/>
                    <a:pt x="20" y="45"/>
                  </a:cubicBezTo>
                  <a:cubicBezTo>
                    <a:pt x="29" y="45"/>
                    <a:pt x="36" y="38"/>
                    <a:pt x="36" y="29"/>
                  </a:cubicBezTo>
                  <a:cubicBezTo>
                    <a:pt x="36" y="25"/>
                    <a:pt x="36" y="25"/>
                    <a:pt x="36" y="25"/>
                  </a:cubicBezTo>
                  <a:cubicBezTo>
                    <a:pt x="36" y="24"/>
                    <a:pt x="37" y="23"/>
                    <a:pt x="39" y="23"/>
                  </a:cubicBezTo>
                  <a:cubicBezTo>
                    <a:pt x="40" y="23"/>
                    <a:pt x="41" y="24"/>
                    <a:pt x="41" y="25"/>
                  </a:cubicBezTo>
                  <a:lnTo>
                    <a:pt x="41" y="29"/>
                  </a:lnTo>
                  <a:close/>
                  <a:moveTo>
                    <a:pt x="32" y="29"/>
                  </a:moveTo>
                  <a:cubicBezTo>
                    <a:pt x="32" y="36"/>
                    <a:pt x="27" y="41"/>
                    <a:pt x="20" y="41"/>
                  </a:cubicBezTo>
                  <a:cubicBezTo>
                    <a:pt x="14" y="41"/>
                    <a:pt x="9" y="36"/>
                    <a:pt x="9" y="29"/>
                  </a:cubicBezTo>
                  <a:cubicBezTo>
                    <a:pt x="9" y="11"/>
                    <a:pt x="9" y="11"/>
                    <a:pt x="9" y="11"/>
                  </a:cubicBezTo>
                  <a:cubicBezTo>
                    <a:pt x="9" y="5"/>
                    <a:pt x="14" y="0"/>
                    <a:pt x="20" y="0"/>
                  </a:cubicBezTo>
                  <a:cubicBezTo>
                    <a:pt x="27" y="0"/>
                    <a:pt x="32" y="5"/>
                    <a:pt x="32" y="11"/>
                  </a:cubicBezTo>
                  <a:lnTo>
                    <a:pt x="32" y="29"/>
                  </a:lnTo>
                  <a:close/>
                </a:path>
              </a:pathLst>
            </a:custGeom>
            <a:solidFill>
              <a:schemeClr val="bg1"/>
            </a:solidFill>
            <a:ln w="9525">
              <a:noFill/>
              <a:round/>
            </a:ln>
          </p:spPr>
          <p:txBody>
            <a:bodyPr vert="horz" wrap="square" lIns="105859" tIns="52929" rIns="105859" bIns="52929" numCol="1" anchor="t" anchorCtr="0" compatLnSpc="1"/>
            <a:lstStyle/>
            <a:p>
              <a:pPr>
                <a:lnSpc>
                  <a:spcPct val="120000"/>
                </a:lnSpc>
              </a:pPr>
              <a:endParaRPr lang="en-US" sz="2315">
                <a:latin typeface="思源黑体 CN Bold" panose="020B0800000000000000" charset="-122"/>
                <a:ea typeface="思源黑体 CN Bold" panose="020B0800000000000000" charset="-122"/>
                <a:cs typeface="+mn-ea"/>
                <a:sym typeface="+mn-lt"/>
              </a:endParaRPr>
            </a:p>
          </p:txBody>
        </p:sp>
        <p:sp>
          <p:nvSpPr>
            <p:cNvPr id="73" name="Pentagon 72"/>
            <p:cNvSpPr/>
            <p:nvPr/>
          </p:nvSpPr>
          <p:spPr>
            <a:xfrm rot="5400000">
              <a:off x="11353" y="4164"/>
              <a:ext cx="2362" cy="2520"/>
            </a:xfrm>
            <a:prstGeom prst="homePlate">
              <a:avLst/>
            </a:prstGeom>
            <a:solidFill>
              <a:srgbClr val="DFAA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2315">
                <a:cs typeface="+mn-ea"/>
                <a:sym typeface="+mn-lt"/>
              </a:endParaRPr>
            </a:p>
          </p:txBody>
        </p:sp>
        <p:sp>
          <p:nvSpPr>
            <p:cNvPr id="74" name="Rectangle 73"/>
            <p:cNvSpPr/>
            <p:nvPr/>
          </p:nvSpPr>
          <p:spPr>
            <a:xfrm>
              <a:off x="11274" y="2992"/>
              <a:ext cx="2520" cy="1250"/>
            </a:xfrm>
            <a:prstGeom prst="rect">
              <a:avLst/>
            </a:prstGeom>
            <a:solidFill>
              <a:srgbClr val="95D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dirty="0"/>
                <a:t>系统性能指标</a:t>
              </a:r>
              <a:endParaRPr lang="en-US" altLang="zh-CN"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76" name="Freeform 100"/>
            <p:cNvSpPr>
              <a:spLocks noEditPoints="1"/>
            </p:cNvSpPr>
            <p:nvPr/>
          </p:nvSpPr>
          <p:spPr bwMode="auto">
            <a:xfrm>
              <a:off x="12114" y="4731"/>
              <a:ext cx="841" cy="807"/>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105859" tIns="52929" rIns="105859" bIns="52929" numCol="1" anchor="t" anchorCtr="0" compatLnSpc="1"/>
            <a:lstStyle/>
            <a:p>
              <a:pPr>
                <a:lnSpc>
                  <a:spcPct val="120000"/>
                </a:lnSpc>
              </a:pPr>
              <a:endParaRPr lang="en-US" sz="2315">
                <a:latin typeface="思源黑体 CN Bold" panose="020B0800000000000000" charset="-122"/>
                <a:ea typeface="思源黑体 CN Bold" panose="020B0800000000000000" charset="-122"/>
                <a:cs typeface="+mn-ea"/>
                <a:sym typeface="+mn-lt"/>
              </a:endParaRPr>
            </a:p>
          </p:txBody>
        </p:sp>
        <p:sp>
          <p:nvSpPr>
            <p:cNvPr id="77" name="Pentagon 76"/>
            <p:cNvSpPr/>
            <p:nvPr/>
          </p:nvSpPr>
          <p:spPr>
            <a:xfrm rot="5400000">
              <a:off x="14279" y="4164"/>
              <a:ext cx="2362" cy="2520"/>
            </a:xfrm>
            <a:prstGeom prst="homePlate">
              <a:avLst/>
            </a:prstGeom>
            <a:solidFill>
              <a:srgbClr val="DFAA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2315">
                <a:cs typeface="+mn-ea"/>
                <a:sym typeface="+mn-lt"/>
              </a:endParaRPr>
            </a:p>
          </p:txBody>
        </p:sp>
        <p:sp>
          <p:nvSpPr>
            <p:cNvPr id="78" name="Rectangle 77"/>
            <p:cNvSpPr/>
            <p:nvPr/>
          </p:nvSpPr>
          <p:spPr>
            <a:xfrm>
              <a:off x="14200" y="2992"/>
              <a:ext cx="2520" cy="1250"/>
            </a:xfrm>
            <a:prstGeom prst="rect">
              <a:avLst/>
            </a:prstGeom>
            <a:solidFill>
              <a:srgbClr val="95D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dirty="0"/>
                <a:t>系统性能指标</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80" name="Freeform 66"/>
            <p:cNvSpPr>
              <a:spLocks noEditPoints="1"/>
            </p:cNvSpPr>
            <p:nvPr/>
          </p:nvSpPr>
          <p:spPr bwMode="auto">
            <a:xfrm>
              <a:off x="14996" y="4774"/>
              <a:ext cx="928" cy="720"/>
            </a:xfrm>
            <a:custGeom>
              <a:avLst/>
              <a:gdLst/>
              <a:ahLst/>
              <a:cxnLst>
                <a:cxn ang="0">
                  <a:pos x="29" y="41"/>
                </a:cxn>
                <a:cxn ang="0">
                  <a:pos x="22" y="40"/>
                </a:cxn>
                <a:cxn ang="0">
                  <a:pos x="11" y="45"/>
                </a:cxn>
                <a:cxn ang="0">
                  <a:pos x="7" y="46"/>
                </a:cxn>
                <a:cxn ang="0">
                  <a:pos x="7" y="46"/>
                </a:cxn>
                <a:cxn ang="0">
                  <a:pos x="6" y="45"/>
                </a:cxn>
                <a:cxn ang="0">
                  <a:pos x="6" y="43"/>
                </a:cxn>
                <a:cxn ang="0">
                  <a:pos x="11" y="36"/>
                </a:cxn>
                <a:cxn ang="0">
                  <a:pos x="0" y="20"/>
                </a:cxn>
                <a:cxn ang="0">
                  <a:pos x="29" y="0"/>
                </a:cxn>
                <a:cxn ang="0">
                  <a:pos x="57" y="20"/>
                </a:cxn>
                <a:cxn ang="0">
                  <a:pos x="29" y="41"/>
                </a:cxn>
                <a:cxn ang="0">
                  <a:pos x="62" y="47"/>
                </a:cxn>
                <a:cxn ang="0">
                  <a:pos x="66" y="53"/>
                </a:cxn>
                <a:cxn ang="0">
                  <a:pos x="67" y="55"/>
                </a:cxn>
                <a:cxn ang="0">
                  <a:pos x="66" y="56"/>
                </a:cxn>
                <a:cxn ang="0">
                  <a:pos x="62" y="55"/>
                </a:cxn>
                <a:cxn ang="0">
                  <a:pos x="51" y="50"/>
                </a:cxn>
                <a:cxn ang="0">
                  <a:pos x="44" y="51"/>
                </a:cxn>
                <a:cxn ang="0">
                  <a:pos x="25" y="46"/>
                </a:cxn>
                <a:cxn ang="0">
                  <a:pos x="29" y="46"/>
                </a:cxn>
                <a:cxn ang="0">
                  <a:pos x="52" y="39"/>
                </a:cxn>
                <a:cxn ang="0">
                  <a:pos x="62" y="20"/>
                </a:cxn>
                <a:cxn ang="0">
                  <a:pos x="61" y="14"/>
                </a:cxn>
                <a:cxn ang="0">
                  <a:pos x="72" y="30"/>
                </a:cxn>
                <a:cxn ang="0">
                  <a:pos x="62" y="47"/>
                </a:cxn>
              </a:cxnLst>
              <a:rect l="0" t="0" r="r" b="b"/>
              <a:pathLst>
                <a:path w="72" h="56">
                  <a:moveTo>
                    <a:pt x="29" y="41"/>
                  </a:moveTo>
                  <a:cubicBezTo>
                    <a:pt x="26" y="41"/>
                    <a:pt x="24" y="40"/>
                    <a:pt x="22" y="40"/>
                  </a:cubicBezTo>
                  <a:cubicBezTo>
                    <a:pt x="18" y="42"/>
                    <a:pt x="15" y="44"/>
                    <a:pt x="11" y="45"/>
                  </a:cubicBezTo>
                  <a:cubicBezTo>
                    <a:pt x="9" y="45"/>
                    <a:pt x="8" y="46"/>
                    <a:pt x="7" y="46"/>
                  </a:cubicBezTo>
                  <a:cubicBezTo>
                    <a:pt x="7" y="46"/>
                    <a:pt x="7" y="46"/>
                    <a:pt x="7" y="46"/>
                  </a:cubicBezTo>
                  <a:cubicBezTo>
                    <a:pt x="6" y="46"/>
                    <a:pt x="6" y="45"/>
                    <a:pt x="6" y="45"/>
                  </a:cubicBezTo>
                  <a:cubicBezTo>
                    <a:pt x="5" y="44"/>
                    <a:pt x="6" y="43"/>
                    <a:pt x="6" y="43"/>
                  </a:cubicBezTo>
                  <a:cubicBezTo>
                    <a:pt x="8" y="41"/>
                    <a:pt x="10" y="40"/>
                    <a:pt x="11" y="36"/>
                  </a:cubicBezTo>
                  <a:cubicBezTo>
                    <a:pt x="5" y="32"/>
                    <a:pt x="0" y="27"/>
                    <a:pt x="0" y="20"/>
                  </a:cubicBezTo>
                  <a:cubicBezTo>
                    <a:pt x="0" y="9"/>
                    <a:pt x="13" y="0"/>
                    <a:pt x="29" y="0"/>
                  </a:cubicBezTo>
                  <a:cubicBezTo>
                    <a:pt x="44" y="0"/>
                    <a:pt x="57" y="9"/>
                    <a:pt x="57" y="20"/>
                  </a:cubicBezTo>
                  <a:cubicBezTo>
                    <a:pt x="57" y="32"/>
                    <a:pt x="44" y="41"/>
                    <a:pt x="29" y="41"/>
                  </a:cubicBezTo>
                  <a:close/>
                  <a:moveTo>
                    <a:pt x="62" y="47"/>
                  </a:moveTo>
                  <a:cubicBezTo>
                    <a:pt x="63" y="50"/>
                    <a:pt x="65" y="51"/>
                    <a:pt x="66" y="53"/>
                  </a:cubicBezTo>
                  <a:cubicBezTo>
                    <a:pt x="67" y="54"/>
                    <a:pt x="67" y="54"/>
                    <a:pt x="67" y="55"/>
                  </a:cubicBezTo>
                  <a:cubicBezTo>
                    <a:pt x="67" y="56"/>
                    <a:pt x="67" y="56"/>
                    <a:pt x="66" y="56"/>
                  </a:cubicBezTo>
                  <a:cubicBezTo>
                    <a:pt x="65" y="56"/>
                    <a:pt x="63" y="56"/>
                    <a:pt x="62" y="55"/>
                  </a:cubicBezTo>
                  <a:cubicBezTo>
                    <a:pt x="58" y="54"/>
                    <a:pt x="55" y="53"/>
                    <a:pt x="51" y="50"/>
                  </a:cubicBezTo>
                  <a:cubicBezTo>
                    <a:pt x="49" y="51"/>
                    <a:pt x="47" y="51"/>
                    <a:pt x="44" y="51"/>
                  </a:cubicBezTo>
                  <a:cubicBezTo>
                    <a:pt x="37" y="51"/>
                    <a:pt x="30" y="49"/>
                    <a:pt x="25" y="46"/>
                  </a:cubicBezTo>
                  <a:cubicBezTo>
                    <a:pt x="26" y="46"/>
                    <a:pt x="28" y="46"/>
                    <a:pt x="29" y="46"/>
                  </a:cubicBezTo>
                  <a:cubicBezTo>
                    <a:pt x="37" y="46"/>
                    <a:pt x="46" y="43"/>
                    <a:pt x="52" y="39"/>
                  </a:cubicBezTo>
                  <a:cubicBezTo>
                    <a:pt x="58" y="34"/>
                    <a:pt x="62" y="27"/>
                    <a:pt x="62" y="20"/>
                  </a:cubicBezTo>
                  <a:cubicBezTo>
                    <a:pt x="62" y="18"/>
                    <a:pt x="62" y="16"/>
                    <a:pt x="61" y="14"/>
                  </a:cubicBezTo>
                  <a:cubicBezTo>
                    <a:pt x="68" y="18"/>
                    <a:pt x="72" y="24"/>
                    <a:pt x="72" y="30"/>
                  </a:cubicBezTo>
                  <a:cubicBezTo>
                    <a:pt x="72" y="37"/>
                    <a:pt x="68" y="43"/>
                    <a:pt x="62" y="47"/>
                  </a:cubicBezTo>
                  <a:close/>
                </a:path>
              </a:pathLst>
            </a:custGeom>
            <a:solidFill>
              <a:schemeClr val="bg1"/>
            </a:solidFill>
            <a:ln w="9525">
              <a:noFill/>
              <a:round/>
            </a:ln>
          </p:spPr>
          <p:txBody>
            <a:bodyPr vert="horz" wrap="square" lIns="105859" tIns="52929" rIns="105859" bIns="52929" numCol="1" anchor="t" anchorCtr="0" compatLnSpc="1"/>
            <a:lstStyle/>
            <a:p>
              <a:pPr>
                <a:lnSpc>
                  <a:spcPct val="120000"/>
                </a:lnSpc>
              </a:pPr>
              <a:endParaRPr lang="en-US" sz="2315">
                <a:latin typeface="思源黑体 CN Bold" panose="020B0800000000000000" charset="-122"/>
                <a:ea typeface="思源黑体 CN Bold" panose="020B0800000000000000" charset="-122"/>
                <a:cs typeface="+mn-ea"/>
                <a:sym typeface="+mn-lt"/>
              </a:endParaRPr>
            </a:p>
          </p:txBody>
        </p:sp>
        <p:sp>
          <p:nvSpPr>
            <p:cNvPr id="26" name="TextBox 27"/>
            <p:cNvSpPr txBox="1"/>
            <p:nvPr/>
          </p:nvSpPr>
          <p:spPr>
            <a:xfrm>
              <a:off x="2987" y="6604"/>
              <a:ext cx="1524" cy="449"/>
            </a:xfrm>
            <a:prstGeom prst="rect">
              <a:avLst/>
            </a:prstGeom>
            <a:noFill/>
          </p:spPr>
          <p:txBody>
            <a:bodyPr wrap="square" lIns="91412" tIns="0" rIns="91412" bIns="0" rtlCol="0" anchor="t">
              <a:spAutoFit/>
            </a:bodyPr>
            <a:lstStyle/>
            <a:p>
              <a:pPr algn="ctr">
                <a:lnSpc>
                  <a:spcPct val="150000"/>
                </a:lnSpc>
              </a:pPr>
              <a:r>
                <a:rPr lang="zh-CN" altLang="en-US" sz="1400" b="1" dirty="0"/>
                <a:t>任务耗时</a:t>
              </a:r>
              <a:endParaRPr lang="zh-CN" altLang="en-US" sz="1400" b="1"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27" name="TextBox 28"/>
            <p:cNvSpPr txBox="1"/>
            <p:nvPr/>
          </p:nvSpPr>
          <p:spPr>
            <a:xfrm>
              <a:off x="2194" y="7070"/>
              <a:ext cx="3111" cy="814"/>
            </a:xfrm>
            <a:prstGeom prst="rect">
              <a:avLst/>
            </a:prstGeom>
            <a:noFill/>
          </p:spPr>
          <p:txBody>
            <a:bodyPr wrap="square" lIns="91412" tIns="45706" rIns="91412" bIns="45706" rtlCol="0">
              <a:spAutoFit/>
            </a:bodyPr>
            <a:lstStyle/>
            <a:p>
              <a:pPr algn="ctr">
                <a:lnSpc>
                  <a:spcPct val="120000"/>
                </a:lnSpc>
              </a:pPr>
              <a:r>
                <a:rPr lang="zh-CN" altLang="en-US" sz="1200" dirty="0"/>
                <a:t>完成指定任务的总时间（秒）</a:t>
              </a:r>
              <a:endParaRPr lang="en-US" altLang="zh-CN" sz="1200" dirty="0">
                <a:solidFill>
                  <a:schemeClr val="tx1">
                    <a:lumMod val="7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37" name="TextBox 27"/>
            <p:cNvSpPr txBox="1"/>
            <p:nvPr/>
          </p:nvSpPr>
          <p:spPr>
            <a:xfrm>
              <a:off x="5593" y="6604"/>
              <a:ext cx="2530" cy="449"/>
            </a:xfrm>
            <a:prstGeom prst="rect">
              <a:avLst/>
            </a:prstGeom>
            <a:noFill/>
          </p:spPr>
          <p:txBody>
            <a:bodyPr wrap="square" lIns="91412" tIns="0" rIns="91412" bIns="0" rtlCol="0" anchor="t">
              <a:spAutoFit/>
            </a:bodyPr>
            <a:lstStyle/>
            <a:p>
              <a:pPr algn="ctr">
                <a:lnSpc>
                  <a:spcPct val="150000"/>
                </a:lnSpc>
              </a:pPr>
              <a:r>
                <a:rPr lang="zh-CN" altLang="en-US" sz="1400" b="1" dirty="0"/>
                <a:t>操作成功率</a:t>
              </a:r>
              <a:endParaRPr lang="zh-CN" altLang="en-US" sz="1400" b="1" dirty="0">
                <a:sym typeface="阿里巴巴普惠体 R" panose="00020600040101010101" pitchFamily="18" charset="-122"/>
              </a:endParaRPr>
            </a:p>
          </p:txBody>
        </p:sp>
        <p:sp>
          <p:nvSpPr>
            <p:cNvPr id="40" name="TextBox 28"/>
            <p:cNvSpPr txBox="1"/>
            <p:nvPr/>
          </p:nvSpPr>
          <p:spPr>
            <a:xfrm>
              <a:off x="5182" y="7070"/>
              <a:ext cx="3111" cy="813"/>
            </a:xfrm>
            <a:prstGeom prst="rect">
              <a:avLst/>
            </a:prstGeom>
            <a:noFill/>
          </p:spPr>
          <p:txBody>
            <a:bodyPr wrap="square" lIns="91412" tIns="45706" rIns="91412" bIns="45706" rtlCol="0">
              <a:spAutoFit/>
            </a:bodyPr>
            <a:lstStyle/>
            <a:p>
              <a:pPr algn="ctr">
                <a:lnSpc>
                  <a:spcPct val="120000"/>
                </a:lnSpc>
              </a:pPr>
              <a:r>
                <a:rPr lang="zh-CN" altLang="en-US" sz="1200" dirty="0"/>
                <a:t>成功完成任务的次数占比（</a:t>
              </a:r>
              <a:r>
                <a:rPr lang="en-US" altLang="zh-CN" sz="1200" dirty="0"/>
                <a:t>%</a:t>
              </a:r>
              <a:r>
                <a:rPr lang="zh-CN" altLang="en-US" sz="1200" dirty="0"/>
                <a:t>）</a:t>
              </a:r>
              <a:endParaRPr lang="en-US" altLang="zh-CN" sz="1200" dirty="0">
                <a:solidFill>
                  <a:schemeClr val="tx1">
                    <a:lumMod val="7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41" name="TextBox 27"/>
            <p:cNvSpPr txBox="1"/>
            <p:nvPr/>
          </p:nvSpPr>
          <p:spPr>
            <a:xfrm>
              <a:off x="8574" y="6604"/>
              <a:ext cx="2101" cy="449"/>
            </a:xfrm>
            <a:prstGeom prst="rect">
              <a:avLst/>
            </a:prstGeom>
            <a:noFill/>
          </p:spPr>
          <p:txBody>
            <a:bodyPr wrap="square" lIns="91412" tIns="0" rIns="91412" bIns="0" rtlCol="0" anchor="t">
              <a:spAutoFit/>
            </a:bodyPr>
            <a:lstStyle/>
            <a:p>
              <a:pPr algn="ctr">
                <a:lnSpc>
                  <a:spcPct val="150000"/>
                </a:lnSpc>
              </a:pPr>
              <a:r>
                <a:rPr lang="zh-CN" altLang="en-US" sz="1400" b="1" dirty="0"/>
                <a:t>接触力平稳度</a:t>
              </a:r>
              <a:endParaRPr lang="zh-CN" altLang="en-US" sz="1400" b="1" dirty="0">
                <a:sym typeface="阿里巴巴普惠体 R" panose="00020600040101010101" pitchFamily="18" charset="-122"/>
              </a:endParaRPr>
            </a:p>
          </p:txBody>
        </p:sp>
        <p:sp>
          <p:nvSpPr>
            <p:cNvPr id="42" name="TextBox 28"/>
            <p:cNvSpPr txBox="1"/>
            <p:nvPr/>
          </p:nvSpPr>
          <p:spPr>
            <a:xfrm>
              <a:off x="8062" y="7070"/>
              <a:ext cx="3111" cy="814"/>
            </a:xfrm>
            <a:prstGeom prst="rect">
              <a:avLst/>
            </a:prstGeom>
            <a:noFill/>
          </p:spPr>
          <p:txBody>
            <a:bodyPr wrap="square" lIns="91412" tIns="45706" rIns="91412" bIns="45706" rtlCol="0">
              <a:spAutoFit/>
            </a:bodyPr>
            <a:lstStyle/>
            <a:p>
              <a:pPr algn="ctr">
                <a:lnSpc>
                  <a:spcPct val="120000"/>
                </a:lnSpc>
              </a:pPr>
              <a:r>
                <a:rPr lang="zh-CN" altLang="en-US" sz="1200" dirty="0"/>
                <a:t>接触力变化的标准差（越小越平稳）</a:t>
              </a:r>
              <a:endParaRPr lang="en-US" altLang="zh-CN" sz="1200" dirty="0">
                <a:solidFill>
                  <a:schemeClr val="tx1">
                    <a:lumMod val="7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43" name="TextBox 27"/>
            <p:cNvSpPr txBox="1"/>
            <p:nvPr/>
          </p:nvSpPr>
          <p:spPr>
            <a:xfrm>
              <a:off x="11781" y="6604"/>
              <a:ext cx="1524" cy="449"/>
            </a:xfrm>
            <a:prstGeom prst="rect">
              <a:avLst/>
            </a:prstGeom>
            <a:noFill/>
          </p:spPr>
          <p:txBody>
            <a:bodyPr wrap="square" lIns="91412" tIns="0" rIns="91412" bIns="0" rtlCol="0" anchor="t">
              <a:spAutoFit/>
            </a:bodyPr>
            <a:lstStyle/>
            <a:p>
              <a:pPr algn="ctr">
                <a:lnSpc>
                  <a:spcPct val="150000"/>
                </a:lnSpc>
              </a:pPr>
              <a:r>
                <a:rPr lang="zh-CN" altLang="en-US" sz="1400" b="1" dirty="0"/>
                <a:t>系统帧率</a:t>
              </a:r>
              <a:endParaRPr lang="zh-CN" altLang="en-US" sz="1400" b="1" dirty="0">
                <a:sym typeface="阿里巴巴普惠体 R" panose="00020600040101010101" pitchFamily="18" charset="-122"/>
              </a:endParaRPr>
            </a:p>
          </p:txBody>
        </p:sp>
        <p:sp>
          <p:nvSpPr>
            <p:cNvPr id="44" name="TextBox 28"/>
            <p:cNvSpPr txBox="1"/>
            <p:nvPr/>
          </p:nvSpPr>
          <p:spPr>
            <a:xfrm>
              <a:off x="10988" y="7070"/>
              <a:ext cx="3111" cy="813"/>
            </a:xfrm>
            <a:prstGeom prst="rect">
              <a:avLst/>
            </a:prstGeom>
            <a:noFill/>
          </p:spPr>
          <p:txBody>
            <a:bodyPr wrap="square" lIns="91412" tIns="45706" rIns="91412" bIns="45706" rtlCol="0">
              <a:spAutoFit/>
            </a:bodyPr>
            <a:lstStyle/>
            <a:p>
              <a:pPr algn="ctr">
                <a:lnSpc>
                  <a:spcPct val="120000"/>
                </a:lnSpc>
              </a:pPr>
              <a:r>
                <a:rPr lang="zh-CN" altLang="en-US" sz="1200" dirty="0"/>
                <a:t>视觉渲染与物理计算的平均帧率（</a:t>
              </a:r>
              <a:r>
                <a:rPr lang="en-US" altLang="zh-CN" sz="1200" dirty="0"/>
                <a:t>FPS</a:t>
              </a:r>
              <a:r>
                <a:rPr lang="zh-CN" altLang="en-US" sz="1200" dirty="0"/>
                <a:t>）</a:t>
              </a:r>
              <a:endParaRPr lang="en-US" altLang="zh-CN" sz="1200" dirty="0">
                <a:solidFill>
                  <a:schemeClr val="tx1">
                    <a:lumMod val="7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45" name="TextBox 27"/>
            <p:cNvSpPr txBox="1"/>
            <p:nvPr/>
          </p:nvSpPr>
          <p:spPr>
            <a:xfrm>
              <a:off x="14739" y="6604"/>
              <a:ext cx="1524" cy="449"/>
            </a:xfrm>
            <a:prstGeom prst="rect">
              <a:avLst/>
            </a:prstGeom>
            <a:noFill/>
          </p:spPr>
          <p:txBody>
            <a:bodyPr wrap="square" lIns="91412" tIns="0" rIns="91412" bIns="0" rtlCol="0" anchor="t">
              <a:spAutoFit/>
            </a:bodyPr>
            <a:lstStyle/>
            <a:p>
              <a:pPr algn="ctr">
                <a:lnSpc>
                  <a:spcPct val="150000"/>
                </a:lnSpc>
              </a:pPr>
              <a:r>
                <a:rPr lang="zh-CN" altLang="en-US" sz="1400" b="1" dirty="0"/>
                <a:t>传输延时</a:t>
              </a:r>
              <a:endParaRPr lang="zh-CN" altLang="en-US" sz="1400" b="1" dirty="0">
                <a:sym typeface="阿里巴巴普惠体 R" panose="00020600040101010101" pitchFamily="18" charset="-122"/>
              </a:endParaRPr>
            </a:p>
          </p:txBody>
        </p:sp>
        <p:sp>
          <p:nvSpPr>
            <p:cNvPr id="46" name="TextBox 28"/>
            <p:cNvSpPr txBox="1"/>
            <p:nvPr/>
          </p:nvSpPr>
          <p:spPr>
            <a:xfrm>
              <a:off x="13946" y="7070"/>
              <a:ext cx="3111" cy="814"/>
            </a:xfrm>
            <a:prstGeom prst="rect">
              <a:avLst/>
            </a:prstGeom>
            <a:noFill/>
          </p:spPr>
          <p:txBody>
            <a:bodyPr wrap="square" lIns="91412" tIns="45706" rIns="91412" bIns="45706" rtlCol="0">
              <a:spAutoFit/>
            </a:bodyPr>
            <a:lstStyle/>
            <a:p>
              <a:pPr algn="ctr">
                <a:lnSpc>
                  <a:spcPct val="120000"/>
                </a:lnSpc>
              </a:pPr>
              <a:r>
                <a:rPr lang="zh-CN" altLang="en-US" sz="1200" dirty="0"/>
                <a:t>接触发生到触觉反馈的响应时间（毫秒）</a:t>
              </a:r>
              <a:endParaRPr lang="en-US" altLang="zh-CN" sz="1200" dirty="0">
                <a:solidFill>
                  <a:schemeClr val="tx1">
                    <a:lumMod val="7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grpSp>
      <p:sp>
        <p:nvSpPr>
          <p:cNvPr id="2" name="Pentagon 76">
            <a:extLst>
              <a:ext uri="{FF2B5EF4-FFF2-40B4-BE49-F238E27FC236}">
                <a16:creationId xmlns:a16="http://schemas.microsoft.com/office/drawing/2014/main" id="{344ACF72-2970-0EA8-0F67-23C32129F148}"/>
              </a:ext>
            </a:extLst>
          </p:cNvPr>
          <p:cNvSpPr/>
          <p:nvPr/>
        </p:nvSpPr>
        <p:spPr>
          <a:xfrm rot="5400000">
            <a:off x="10091639" y="2612390"/>
            <a:ext cx="1499870" cy="1600200"/>
          </a:xfrm>
          <a:prstGeom prst="homePlate">
            <a:avLst/>
          </a:prstGeom>
          <a:solidFill>
            <a:srgbClr val="DFAA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2315">
              <a:cs typeface="+mn-ea"/>
              <a:sym typeface="+mn-lt"/>
            </a:endParaRPr>
          </a:p>
        </p:txBody>
      </p:sp>
      <p:sp>
        <p:nvSpPr>
          <p:cNvPr id="3" name="Rectangle 77">
            <a:extLst>
              <a:ext uri="{FF2B5EF4-FFF2-40B4-BE49-F238E27FC236}">
                <a16:creationId xmlns:a16="http://schemas.microsoft.com/office/drawing/2014/main" id="{A3A3B013-75A3-4D4C-E8DE-8DEDA044FE84}"/>
              </a:ext>
            </a:extLst>
          </p:cNvPr>
          <p:cNvSpPr/>
          <p:nvPr/>
        </p:nvSpPr>
        <p:spPr>
          <a:xfrm>
            <a:off x="10041474" y="1868170"/>
            <a:ext cx="1600200" cy="793750"/>
          </a:xfrm>
          <a:prstGeom prst="rect">
            <a:avLst/>
          </a:prstGeom>
          <a:solidFill>
            <a:srgbClr val="95D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zh-CN" altLang="en-US" sz="1600" dirty="0"/>
              <a:t>主观体验指标</a:t>
            </a:r>
            <a:endParaRPr lang="en-US" sz="1600" dirty="0">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
        <p:nvSpPr>
          <p:cNvPr id="5" name="Freeform 66">
            <a:extLst>
              <a:ext uri="{FF2B5EF4-FFF2-40B4-BE49-F238E27FC236}">
                <a16:creationId xmlns:a16="http://schemas.microsoft.com/office/drawing/2014/main" id="{2D3403F0-642D-0EFE-5491-F25693A75EAC}"/>
              </a:ext>
            </a:extLst>
          </p:cNvPr>
          <p:cNvSpPr>
            <a:spLocks noEditPoints="1"/>
          </p:cNvSpPr>
          <p:nvPr/>
        </p:nvSpPr>
        <p:spPr bwMode="auto">
          <a:xfrm>
            <a:off x="10546934" y="2999740"/>
            <a:ext cx="589280" cy="457200"/>
          </a:xfrm>
          <a:custGeom>
            <a:avLst/>
            <a:gdLst/>
            <a:ahLst/>
            <a:cxnLst>
              <a:cxn ang="0">
                <a:pos x="29" y="41"/>
              </a:cxn>
              <a:cxn ang="0">
                <a:pos x="22" y="40"/>
              </a:cxn>
              <a:cxn ang="0">
                <a:pos x="11" y="45"/>
              </a:cxn>
              <a:cxn ang="0">
                <a:pos x="7" y="46"/>
              </a:cxn>
              <a:cxn ang="0">
                <a:pos x="7" y="46"/>
              </a:cxn>
              <a:cxn ang="0">
                <a:pos x="6" y="45"/>
              </a:cxn>
              <a:cxn ang="0">
                <a:pos x="6" y="43"/>
              </a:cxn>
              <a:cxn ang="0">
                <a:pos x="11" y="36"/>
              </a:cxn>
              <a:cxn ang="0">
                <a:pos x="0" y="20"/>
              </a:cxn>
              <a:cxn ang="0">
                <a:pos x="29" y="0"/>
              </a:cxn>
              <a:cxn ang="0">
                <a:pos x="57" y="20"/>
              </a:cxn>
              <a:cxn ang="0">
                <a:pos x="29" y="41"/>
              </a:cxn>
              <a:cxn ang="0">
                <a:pos x="62" y="47"/>
              </a:cxn>
              <a:cxn ang="0">
                <a:pos x="66" y="53"/>
              </a:cxn>
              <a:cxn ang="0">
                <a:pos x="67" y="55"/>
              </a:cxn>
              <a:cxn ang="0">
                <a:pos x="66" y="56"/>
              </a:cxn>
              <a:cxn ang="0">
                <a:pos x="62" y="55"/>
              </a:cxn>
              <a:cxn ang="0">
                <a:pos x="51" y="50"/>
              </a:cxn>
              <a:cxn ang="0">
                <a:pos x="44" y="51"/>
              </a:cxn>
              <a:cxn ang="0">
                <a:pos x="25" y="46"/>
              </a:cxn>
              <a:cxn ang="0">
                <a:pos x="29" y="46"/>
              </a:cxn>
              <a:cxn ang="0">
                <a:pos x="52" y="39"/>
              </a:cxn>
              <a:cxn ang="0">
                <a:pos x="62" y="20"/>
              </a:cxn>
              <a:cxn ang="0">
                <a:pos x="61" y="14"/>
              </a:cxn>
              <a:cxn ang="0">
                <a:pos x="72" y="30"/>
              </a:cxn>
              <a:cxn ang="0">
                <a:pos x="62" y="47"/>
              </a:cxn>
            </a:cxnLst>
            <a:rect l="0" t="0" r="r" b="b"/>
            <a:pathLst>
              <a:path w="72" h="56">
                <a:moveTo>
                  <a:pt x="29" y="41"/>
                </a:moveTo>
                <a:cubicBezTo>
                  <a:pt x="26" y="41"/>
                  <a:pt x="24" y="40"/>
                  <a:pt x="22" y="40"/>
                </a:cubicBezTo>
                <a:cubicBezTo>
                  <a:pt x="18" y="42"/>
                  <a:pt x="15" y="44"/>
                  <a:pt x="11" y="45"/>
                </a:cubicBezTo>
                <a:cubicBezTo>
                  <a:pt x="9" y="45"/>
                  <a:pt x="8" y="46"/>
                  <a:pt x="7" y="46"/>
                </a:cubicBezTo>
                <a:cubicBezTo>
                  <a:pt x="7" y="46"/>
                  <a:pt x="7" y="46"/>
                  <a:pt x="7" y="46"/>
                </a:cubicBezTo>
                <a:cubicBezTo>
                  <a:pt x="6" y="46"/>
                  <a:pt x="6" y="45"/>
                  <a:pt x="6" y="45"/>
                </a:cubicBezTo>
                <a:cubicBezTo>
                  <a:pt x="5" y="44"/>
                  <a:pt x="6" y="43"/>
                  <a:pt x="6" y="43"/>
                </a:cubicBezTo>
                <a:cubicBezTo>
                  <a:pt x="8" y="41"/>
                  <a:pt x="10" y="40"/>
                  <a:pt x="11" y="36"/>
                </a:cubicBezTo>
                <a:cubicBezTo>
                  <a:pt x="5" y="32"/>
                  <a:pt x="0" y="27"/>
                  <a:pt x="0" y="20"/>
                </a:cubicBezTo>
                <a:cubicBezTo>
                  <a:pt x="0" y="9"/>
                  <a:pt x="13" y="0"/>
                  <a:pt x="29" y="0"/>
                </a:cubicBezTo>
                <a:cubicBezTo>
                  <a:pt x="44" y="0"/>
                  <a:pt x="57" y="9"/>
                  <a:pt x="57" y="20"/>
                </a:cubicBezTo>
                <a:cubicBezTo>
                  <a:pt x="57" y="32"/>
                  <a:pt x="44" y="41"/>
                  <a:pt x="29" y="41"/>
                </a:cubicBezTo>
                <a:close/>
                <a:moveTo>
                  <a:pt x="62" y="47"/>
                </a:moveTo>
                <a:cubicBezTo>
                  <a:pt x="63" y="50"/>
                  <a:pt x="65" y="51"/>
                  <a:pt x="66" y="53"/>
                </a:cubicBezTo>
                <a:cubicBezTo>
                  <a:pt x="67" y="54"/>
                  <a:pt x="67" y="54"/>
                  <a:pt x="67" y="55"/>
                </a:cubicBezTo>
                <a:cubicBezTo>
                  <a:pt x="67" y="56"/>
                  <a:pt x="67" y="56"/>
                  <a:pt x="66" y="56"/>
                </a:cubicBezTo>
                <a:cubicBezTo>
                  <a:pt x="65" y="56"/>
                  <a:pt x="63" y="56"/>
                  <a:pt x="62" y="55"/>
                </a:cubicBezTo>
                <a:cubicBezTo>
                  <a:pt x="58" y="54"/>
                  <a:pt x="55" y="53"/>
                  <a:pt x="51" y="50"/>
                </a:cubicBezTo>
                <a:cubicBezTo>
                  <a:pt x="49" y="51"/>
                  <a:pt x="47" y="51"/>
                  <a:pt x="44" y="51"/>
                </a:cubicBezTo>
                <a:cubicBezTo>
                  <a:pt x="37" y="51"/>
                  <a:pt x="30" y="49"/>
                  <a:pt x="25" y="46"/>
                </a:cubicBezTo>
                <a:cubicBezTo>
                  <a:pt x="26" y="46"/>
                  <a:pt x="28" y="46"/>
                  <a:pt x="29" y="46"/>
                </a:cubicBezTo>
                <a:cubicBezTo>
                  <a:pt x="37" y="46"/>
                  <a:pt x="46" y="43"/>
                  <a:pt x="52" y="39"/>
                </a:cubicBezTo>
                <a:cubicBezTo>
                  <a:pt x="58" y="34"/>
                  <a:pt x="62" y="27"/>
                  <a:pt x="62" y="20"/>
                </a:cubicBezTo>
                <a:cubicBezTo>
                  <a:pt x="62" y="18"/>
                  <a:pt x="62" y="16"/>
                  <a:pt x="61" y="14"/>
                </a:cubicBezTo>
                <a:cubicBezTo>
                  <a:pt x="68" y="18"/>
                  <a:pt x="72" y="24"/>
                  <a:pt x="72" y="30"/>
                </a:cubicBezTo>
                <a:cubicBezTo>
                  <a:pt x="72" y="37"/>
                  <a:pt x="68" y="43"/>
                  <a:pt x="62" y="47"/>
                </a:cubicBezTo>
                <a:close/>
              </a:path>
            </a:pathLst>
          </a:custGeom>
          <a:solidFill>
            <a:schemeClr val="bg1"/>
          </a:solidFill>
          <a:ln w="9525">
            <a:noFill/>
            <a:round/>
          </a:ln>
        </p:spPr>
        <p:txBody>
          <a:bodyPr vert="horz" wrap="square" lIns="105859" tIns="52929" rIns="105859" bIns="52929" numCol="1" anchor="t" anchorCtr="0" compatLnSpc="1"/>
          <a:lstStyle/>
          <a:p>
            <a:pPr>
              <a:lnSpc>
                <a:spcPct val="120000"/>
              </a:lnSpc>
            </a:pPr>
            <a:endParaRPr lang="en-US" sz="2315">
              <a:latin typeface="思源黑体 CN Bold" panose="020B0800000000000000" charset="-122"/>
              <a:ea typeface="思源黑体 CN Bold" panose="020B0800000000000000" charset="-122"/>
              <a:cs typeface="+mn-ea"/>
              <a:sym typeface="+mn-lt"/>
            </a:endParaRPr>
          </a:p>
        </p:txBody>
      </p:sp>
      <p:sp>
        <p:nvSpPr>
          <p:cNvPr id="6" name="TextBox 27">
            <a:extLst>
              <a:ext uri="{FF2B5EF4-FFF2-40B4-BE49-F238E27FC236}">
                <a16:creationId xmlns:a16="http://schemas.microsoft.com/office/drawing/2014/main" id="{4919E369-0016-02B2-27CF-4E2FC41B6BF3}"/>
              </a:ext>
            </a:extLst>
          </p:cNvPr>
          <p:cNvSpPr txBox="1"/>
          <p:nvPr/>
        </p:nvSpPr>
        <p:spPr>
          <a:xfrm>
            <a:off x="10123389" y="4161808"/>
            <a:ext cx="1591310" cy="285078"/>
          </a:xfrm>
          <a:prstGeom prst="rect">
            <a:avLst/>
          </a:prstGeom>
          <a:noFill/>
        </p:spPr>
        <p:txBody>
          <a:bodyPr wrap="square" lIns="91412" tIns="0" rIns="91412" bIns="0" rtlCol="0" anchor="t">
            <a:spAutoFit/>
          </a:bodyPr>
          <a:lstStyle/>
          <a:p>
            <a:pPr algn="ctr">
              <a:lnSpc>
                <a:spcPct val="150000"/>
              </a:lnSpc>
            </a:pPr>
            <a:r>
              <a:rPr lang="zh-CN" altLang="en-US" sz="1400" b="1" dirty="0"/>
              <a:t>触觉真实感评分</a:t>
            </a:r>
            <a:endParaRPr lang="zh-CN" altLang="en-US" sz="1400" b="1" dirty="0">
              <a:sym typeface="阿里巴巴普惠体 R" panose="00020600040101010101" pitchFamily="18" charset="-122"/>
            </a:endParaRPr>
          </a:p>
        </p:txBody>
      </p:sp>
      <p:sp>
        <p:nvSpPr>
          <p:cNvPr id="7" name="TextBox 28">
            <a:extLst>
              <a:ext uri="{FF2B5EF4-FFF2-40B4-BE49-F238E27FC236}">
                <a16:creationId xmlns:a16="http://schemas.microsoft.com/office/drawing/2014/main" id="{F95556A3-6711-ECD6-7244-878EEE9C597E}"/>
              </a:ext>
            </a:extLst>
          </p:cNvPr>
          <p:cNvSpPr txBox="1"/>
          <p:nvPr/>
        </p:nvSpPr>
        <p:spPr>
          <a:xfrm>
            <a:off x="9880184" y="4457700"/>
            <a:ext cx="1975485" cy="516716"/>
          </a:xfrm>
          <a:prstGeom prst="rect">
            <a:avLst/>
          </a:prstGeom>
          <a:noFill/>
        </p:spPr>
        <p:txBody>
          <a:bodyPr wrap="square" lIns="91412" tIns="45706" rIns="91412" bIns="45706" rtlCol="0">
            <a:spAutoFit/>
          </a:bodyPr>
          <a:lstStyle/>
          <a:p>
            <a:pPr algn="ctr">
              <a:lnSpc>
                <a:spcPct val="120000"/>
              </a:lnSpc>
            </a:pPr>
            <a:r>
              <a:rPr lang="zh-CN" altLang="en-US" sz="1200" dirty="0"/>
              <a:t>受试者对触觉与真实物体的相似度评分</a:t>
            </a:r>
            <a:endParaRPr lang="en-US" altLang="zh-CN" sz="1200" dirty="0">
              <a:solidFill>
                <a:schemeClr val="tx1">
                  <a:lumMod val="7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8355E-A6C0-1382-4963-B1668ADAE5A8}"/>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0741BAF8-6794-40D8-6755-E53475BBB424}"/>
              </a:ext>
            </a:extLst>
          </p:cNvPr>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a:extLst>
              <a:ext uri="{FF2B5EF4-FFF2-40B4-BE49-F238E27FC236}">
                <a16:creationId xmlns:a16="http://schemas.microsoft.com/office/drawing/2014/main" id="{D5CCE862-8B98-2B4A-122D-BA7D08442DED}"/>
              </a:ext>
            </a:extLst>
          </p:cNvPr>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a:extLst>
              <a:ext uri="{FF2B5EF4-FFF2-40B4-BE49-F238E27FC236}">
                <a16:creationId xmlns:a16="http://schemas.microsoft.com/office/drawing/2014/main" id="{5FA6988B-0A50-32AD-BC7C-BCD50F1FDA83}"/>
              </a:ext>
            </a:extLst>
          </p:cNvPr>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grpSp>
        <p:nvGrpSpPr>
          <p:cNvPr id="3" name="组合 2">
            <a:extLst>
              <a:ext uri="{FF2B5EF4-FFF2-40B4-BE49-F238E27FC236}">
                <a16:creationId xmlns:a16="http://schemas.microsoft.com/office/drawing/2014/main" id="{AD62ED6B-A4C1-EE1F-134B-2500880F453E}"/>
              </a:ext>
            </a:extLst>
          </p:cNvPr>
          <p:cNvGrpSpPr/>
          <p:nvPr/>
        </p:nvGrpSpPr>
        <p:grpSpPr>
          <a:xfrm>
            <a:off x="4503418" y="2685415"/>
            <a:ext cx="3185160" cy="1487170"/>
            <a:chOff x="7093" y="3758"/>
            <a:chExt cx="5016" cy="2342"/>
          </a:xfrm>
          <a:solidFill>
            <a:schemeClr val="bg1">
              <a:alpha val="82000"/>
            </a:schemeClr>
          </a:solidFill>
        </p:grpSpPr>
        <p:sp>
          <p:nvSpPr>
            <p:cNvPr id="14" name="TextBox 8">
              <a:extLst>
                <a:ext uri="{FF2B5EF4-FFF2-40B4-BE49-F238E27FC236}">
                  <a16:creationId xmlns:a16="http://schemas.microsoft.com/office/drawing/2014/main" id="{EA4D5931-41B2-235A-EF78-F8B2CA641EE4}"/>
                </a:ext>
              </a:extLst>
            </p:cNvPr>
            <p:cNvSpPr txBox="1"/>
            <p:nvPr/>
          </p:nvSpPr>
          <p:spPr>
            <a:xfrm>
              <a:off x="8986" y="3758"/>
              <a:ext cx="1159" cy="1095"/>
            </a:xfrm>
            <a:prstGeom prst="rect">
              <a:avLst/>
            </a:prstGeom>
            <a:grpFill/>
          </p:spPr>
          <p:txBody>
            <a:bodyPr wrap="none" rtlCol="0">
              <a:spAutoFit/>
            </a:bodyPr>
            <a:lstStyle/>
            <a:p>
              <a:pPr algn="r">
                <a:lnSpc>
                  <a:spcPts val="5000"/>
                </a:lnSpc>
              </a:pPr>
              <a:r>
                <a:rPr lang="zh-CN" altLang="en-US" sz="4000" spc="300" dirty="0">
                  <a:solidFill>
                    <a:srgbClr val="DFAAC0"/>
                  </a:solidFill>
                  <a:effectLst>
                    <a:outerShdw blurRad="38100" dist="38100" dir="2700000" algn="tl">
                      <a:srgbClr val="000000">
                        <a:alpha val="43137"/>
                      </a:srgbClr>
                    </a:outerShdw>
                  </a:effectLst>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柒</a:t>
              </a:r>
            </a:p>
          </p:txBody>
        </p:sp>
        <p:sp>
          <p:nvSpPr>
            <p:cNvPr id="15" name="TextBox 1">
              <a:extLst>
                <a:ext uri="{FF2B5EF4-FFF2-40B4-BE49-F238E27FC236}">
                  <a16:creationId xmlns:a16="http://schemas.microsoft.com/office/drawing/2014/main" id="{FF90A4F7-8F0A-C099-07DC-1D0569A1E206}"/>
                </a:ext>
              </a:extLst>
            </p:cNvPr>
            <p:cNvSpPr txBox="1"/>
            <p:nvPr/>
          </p:nvSpPr>
          <p:spPr>
            <a:xfrm>
              <a:off x="7093" y="4917"/>
              <a:ext cx="5016" cy="1183"/>
            </a:xfrm>
            <a:prstGeom prst="rect">
              <a:avLst/>
            </a:prstGeom>
            <a:grpFill/>
          </p:spPr>
          <p:txBody>
            <a:bodyPr wrap="square" lIns="0" tIns="0" rIns="0" rtlCol="0">
              <a:spAutoFit/>
            </a:bodyPr>
            <a:lstStyle/>
            <a:p>
              <a:pPr algn="ctr">
                <a:lnSpc>
                  <a:spcPct val="120000"/>
                </a:lnSpc>
              </a:pPr>
              <a:r>
                <a:rPr lang="zh-CN" altLang="en-US" sz="2000" dirty="0">
                  <a:solidFill>
                    <a:srgbClr val="DFAAC0"/>
                  </a:solidFill>
                  <a:ea typeface="阿里巴巴普惠体 R" panose="00020600040101010101" pitchFamily="18" charset="-122"/>
                </a:rPr>
                <a:t>预期结果与论文结构</a:t>
              </a:r>
            </a:p>
            <a:p>
              <a:pPr algn="ctr">
                <a:lnSpc>
                  <a:spcPct val="120000"/>
                </a:lnSpc>
              </a:pPr>
              <a:endParaRPr lang="zh-CN" altLang="en-US" sz="2000" dirty="0">
                <a:solidFill>
                  <a:srgbClr val="DFAAC0"/>
                </a:solidFill>
                <a:ea typeface="阿里巴巴普惠体 R" panose="00020600040101010101" pitchFamily="18" charset="-122"/>
              </a:endParaRPr>
            </a:p>
          </p:txBody>
        </p:sp>
      </p:grpSp>
    </p:spTree>
    <p:custDataLst>
      <p:tags r:id="rId1"/>
    </p:custDataLst>
    <p:extLst>
      <p:ext uri="{BB962C8B-B14F-4D97-AF65-F5344CB8AC3E}">
        <p14:creationId xmlns:p14="http://schemas.microsoft.com/office/powerpoint/2010/main" val="526036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7CC03-E486-FDEF-65C7-136E0A0873D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957F731-2386-A09F-A333-2C3E8F029317}"/>
              </a:ext>
            </a:extLst>
          </p:cNvPr>
          <p:cNvSpPr/>
          <p:nvPr/>
        </p:nvSpPr>
        <p:spPr>
          <a:xfrm>
            <a:off x="0" y="793750"/>
            <a:ext cx="12192000" cy="68560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508BE478-2DF6-4760-DCCC-CAD7B6CD982B}"/>
              </a:ext>
            </a:extLst>
          </p:cNvPr>
          <p:cNvPicPr>
            <a:picLocks noChangeAspect="1"/>
          </p:cNvPicPr>
          <p:nvPr/>
        </p:nvPicPr>
        <p:blipFill rotWithShape="1">
          <a:blip r:embed="rId3">
            <a:extLst>
              <a:ext uri="{28A0092B-C50C-407E-A947-70E740481C1C}">
                <a14:useLocalDpi xmlns:a14="http://schemas.microsoft.com/office/drawing/2010/main" val="0"/>
              </a:ext>
            </a:extLst>
          </a:blip>
          <a:srcRect l="57925" t="16719" r="16330" b="14074"/>
          <a:stretch>
            <a:fillRect/>
          </a:stretch>
        </p:blipFill>
        <p:spPr>
          <a:xfrm rot="5400000">
            <a:off x="5321490" y="-14413"/>
            <a:ext cx="1549019" cy="12192002"/>
          </a:xfrm>
          <a:prstGeom prst="rect">
            <a:avLst/>
          </a:prstGeom>
        </p:spPr>
      </p:pic>
      <p:sp>
        <p:nvSpPr>
          <p:cNvPr id="34" name="TextBox 8">
            <a:extLst>
              <a:ext uri="{FF2B5EF4-FFF2-40B4-BE49-F238E27FC236}">
                <a16:creationId xmlns:a16="http://schemas.microsoft.com/office/drawing/2014/main" id="{EC496C2D-D111-E2FE-589A-10B1F38815B5}"/>
              </a:ext>
            </a:extLst>
          </p:cNvPr>
          <p:cNvSpPr txBox="1"/>
          <p:nvPr/>
        </p:nvSpPr>
        <p:spPr>
          <a:xfrm>
            <a:off x="4223911" y="-136305"/>
            <a:ext cx="3744178" cy="1292662"/>
          </a:xfrm>
          <a:prstGeom prst="rect">
            <a:avLst/>
          </a:prstGeom>
          <a:noFill/>
        </p:spPr>
        <p:txBody>
          <a:bodyPr wrap="square" lIns="0" tIns="0" rIns="0" bIns="0" rtlCol="0" anchor="ctr">
            <a:spAutoFit/>
          </a:bodyPr>
          <a:lstStyle/>
          <a:p>
            <a:pPr algn="ctr"/>
            <a:endParaRPr lang="en-US" altLang="zh-CN" sz="2800" dirty="0">
              <a:solidFill>
                <a:srgbClr val="CF7F9F"/>
              </a:solidFill>
            </a:endParaRPr>
          </a:p>
          <a:p>
            <a:pPr algn="ctr"/>
            <a:r>
              <a:rPr lang="zh-CN" altLang="en-US" sz="28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预期结果与论文结构</a:t>
            </a:r>
          </a:p>
          <a:p>
            <a:pPr algn="ctr"/>
            <a:endParaRPr lang="zh-CN" altLang="zh-CN" sz="2800" dirty="0">
              <a:solidFill>
                <a:srgbClr val="CF7F9F"/>
              </a:solidFill>
              <a:effectLst/>
            </a:endParaRPr>
          </a:p>
        </p:txBody>
      </p:sp>
      <p:grpSp>
        <p:nvGrpSpPr>
          <p:cNvPr id="35" name="组合 34">
            <a:extLst>
              <a:ext uri="{FF2B5EF4-FFF2-40B4-BE49-F238E27FC236}">
                <a16:creationId xmlns:a16="http://schemas.microsoft.com/office/drawing/2014/main" id="{04A0EB51-093C-2EA9-25C9-0728D6DD475E}"/>
              </a:ext>
            </a:extLst>
          </p:cNvPr>
          <p:cNvGrpSpPr/>
          <p:nvPr/>
        </p:nvGrpSpPr>
        <p:grpSpPr>
          <a:xfrm>
            <a:off x="840658" y="561638"/>
            <a:ext cx="10510685" cy="0"/>
            <a:chOff x="1028775" y="591989"/>
            <a:chExt cx="11086097" cy="0"/>
          </a:xfrm>
        </p:grpSpPr>
        <p:cxnSp>
          <p:nvCxnSpPr>
            <p:cNvPr id="36" name="直接连接符 35">
              <a:extLst>
                <a:ext uri="{FF2B5EF4-FFF2-40B4-BE49-F238E27FC236}">
                  <a16:creationId xmlns:a16="http://schemas.microsoft.com/office/drawing/2014/main" id="{47E989BB-5456-03FD-C3C2-D6DBD9D324D0}"/>
                </a:ext>
              </a:extLst>
            </p:cNvPr>
            <p:cNvCxnSpPr/>
            <p:nvPr/>
          </p:nvCxnSpPr>
          <p:spPr>
            <a:xfrm>
              <a:off x="10287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29EEAFE-FB14-81D9-C51F-F1337E1F5DC1}"/>
                </a:ext>
              </a:extLst>
            </p:cNvPr>
            <p:cNvCxnSpPr/>
            <p:nvPr/>
          </p:nvCxnSpPr>
          <p:spPr>
            <a:xfrm>
              <a:off x="8610675" y="591989"/>
              <a:ext cx="350419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0C423AAB-0CF7-D5E7-094C-CCA3AA904798}"/>
              </a:ext>
            </a:extLst>
          </p:cNvPr>
          <p:cNvSpPr txBox="1"/>
          <p:nvPr/>
        </p:nvSpPr>
        <p:spPr>
          <a:xfrm>
            <a:off x="1679574" y="1156357"/>
            <a:ext cx="8921750" cy="4893647"/>
          </a:xfrm>
          <a:prstGeom prst="rect">
            <a:avLst/>
          </a:prstGeom>
          <a:noFill/>
        </p:spPr>
        <p:txBody>
          <a:bodyPr wrap="square" rtlCol="0">
            <a:spAutoFit/>
          </a:bodyPr>
          <a:lstStyle/>
          <a:p>
            <a:r>
              <a:rPr lang="zh-CN" altLang="en-US" sz="2000" dirty="0">
                <a:solidFill>
                  <a:srgbClr val="CF7F9F"/>
                </a:solidFill>
              </a:rPr>
              <a:t>预期结果</a:t>
            </a:r>
            <a:endParaRPr lang="en-US" altLang="zh-CN" sz="2000" dirty="0">
              <a:solidFill>
                <a:srgbClr val="CF7F9F"/>
              </a:solidFill>
            </a:endParaRPr>
          </a:p>
          <a:p>
            <a:endParaRPr lang="zh-CN" altLang="en-US" sz="2000" dirty="0">
              <a:solidFill>
                <a:srgbClr val="CF7F9F"/>
              </a:solidFill>
            </a:endParaRPr>
          </a:p>
          <a:p>
            <a:r>
              <a:rPr lang="zh-CN" altLang="en-US" dirty="0">
                <a:solidFill>
                  <a:srgbClr val="DFAAC0"/>
                </a:solidFill>
              </a:rPr>
              <a:t>产出一套可直接运行的可变形物体实时触摸仿真系统，支持多模型、多任务的触觉交互。</a:t>
            </a:r>
          </a:p>
          <a:p>
            <a:r>
              <a:rPr lang="zh-CN" altLang="en-US" dirty="0">
                <a:solidFill>
                  <a:srgbClr val="DFAAC0"/>
                </a:solidFill>
              </a:rPr>
              <a:t>实验数据：实验组在任务成功率、接触力平稳度、主观评分上显著优于对照组，系统帧率≥</a:t>
            </a:r>
            <a:r>
              <a:rPr lang="en-US" altLang="zh-CN" dirty="0">
                <a:solidFill>
                  <a:srgbClr val="DFAAC0"/>
                </a:solidFill>
              </a:rPr>
              <a:t>60FPS</a:t>
            </a:r>
            <a:r>
              <a:rPr lang="zh-CN" altLang="en-US" dirty="0">
                <a:solidFill>
                  <a:srgbClr val="DFAAC0"/>
                </a:solidFill>
              </a:rPr>
              <a:t>，传输延时≤</a:t>
            </a:r>
            <a:r>
              <a:rPr lang="en-US" altLang="zh-CN" dirty="0">
                <a:solidFill>
                  <a:srgbClr val="DFAAC0"/>
                </a:solidFill>
              </a:rPr>
              <a:t>50ms</a:t>
            </a:r>
            <a:r>
              <a:rPr lang="zh-CN" altLang="en-US" dirty="0">
                <a:solidFill>
                  <a:srgbClr val="DFAAC0"/>
                </a:solidFill>
              </a:rPr>
              <a:t>。</a:t>
            </a:r>
          </a:p>
          <a:p>
            <a:r>
              <a:rPr lang="zh-CN" altLang="en-US" dirty="0">
                <a:solidFill>
                  <a:srgbClr val="DFAAC0"/>
                </a:solidFill>
              </a:rPr>
              <a:t>失败案例分析：总结模型简化、设备带宽限制等因素导致的触觉失真问题及归因。</a:t>
            </a:r>
            <a:endParaRPr lang="en-US" altLang="zh-CN" dirty="0">
              <a:solidFill>
                <a:srgbClr val="DFAAC0"/>
              </a:solidFill>
            </a:endParaRPr>
          </a:p>
          <a:p>
            <a:endParaRPr lang="en-US" altLang="zh-CN" dirty="0"/>
          </a:p>
          <a:p>
            <a:endParaRPr lang="zh-CN" altLang="en-US" dirty="0"/>
          </a:p>
          <a:p>
            <a:r>
              <a:rPr lang="zh-CN" altLang="en-US" sz="2000" dirty="0">
                <a:solidFill>
                  <a:srgbClr val="CF7F9F"/>
                </a:solidFill>
              </a:rPr>
              <a:t>论文结构安排</a:t>
            </a:r>
          </a:p>
          <a:p>
            <a:pPr marL="342900" indent="-342900">
              <a:buFont typeface="+mj-lt"/>
              <a:buAutoNum type="arabicPeriod"/>
            </a:pPr>
            <a:r>
              <a:rPr lang="zh-CN" altLang="en-US" dirty="0">
                <a:solidFill>
                  <a:srgbClr val="DFAAC0"/>
                </a:solidFill>
              </a:rPr>
              <a:t>绪论：研究背景、问题、意义、技术路线。</a:t>
            </a:r>
          </a:p>
          <a:p>
            <a:pPr marL="342900" indent="-342900">
              <a:buFont typeface="+mj-lt"/>
              <a:buAutoNum type="arabicPeriod"/>
            </a:pPr>
            <a:r>
              <a:rPr lang="zh-CN" altLang="en-US" dirty="0">
                <a:solidFill>
                  <a:srgbClr val="DFAAC0"/>
                </a:solidFill>
              </a:rPr>
              <a:t>相关工作：可变形物体仿真、触觉渲染、多模态交互研究现状综述。</a:t>
            </a:r>
          </a:p>
          <a:p>
            <a:pPr marL="342900" indent="-342900">
              <a:buFont typeface="+mj-lt"/>
              <a:buAutoNum type="arabicPeriod"/>
            </a:pPr>
            <a:r>
              <a:rPr lang="zh-CN" altLang="en-US" dirty="0">
                <a:solidFill>
                  <a:srgbClr val="DFAAC0"/>
                </a:solidFill>
              </a:rPr>
              <a:t>系统架构与仿真环境搭建：软硬件接入、可变形物体建模、交互任务设计。</a:t>
            </a:r>
          </a:p>
          <a:p>
            <a:pPr marL="342900" indent="-342900">
              <a:buFont typeface="+mj-lt"/>
              <a:buAutoNum type="arabicPeriod"/>
            </a:pPr>
            <a:r>
              <a:rPr lang="zh-CN" altLang="en-US" dirty="0">
                <a:solidFill>
                  <a:srgbClr val="DFAAC0"/>
                </a:solidFill>
              </a:rPr>
              <a:t>触觉建模与控制策略实现：接触力提取、信号映射、多线程同步机制。</a:t>
            </a:r>
          </a:p>
          <a:p>
            <a:pPr marL="342900" indent="-342900">
              <a:buFont typeface="+mj-lt"/>
              <a:buAutoNum type="arabicPeriod"/>
            </a:pPr>
            <a:r>
              <a:rPr lang="zh-CN" altLang="en-US" dirty="0">
                <a:solidFill>
                  <a:srgbClr val="DFAAC0"/>
                </a:solidFill>
              </a:rPr>
              <a:t>实验设计与结果分析：实验方案、数据对比、指标验证。</a:t>
            </a:r>
          </a:p>
          <a:p>
            <a:pPr marL="342900" indent="-342900">
              <a:buFont typeface="+mj-lt"/>
              <a:buAutoNum type="arabicPeriod"/>
            </a:pPr>
            <a:r>
              <a:rPr lang="zh-CN" altLang="en-US" dirty="0">
                <a:solidFill>
                  <a:srgbClr val="DFAAC0"/>
                </a:solidFill>
              </a:rPr>
              <a:t>讨论与局限性：性能影响因素、失败案例归因。</a:t>
            </a:r>
          </a:p>
          <a:p>
            <a:pPr marL="342900" indent="-342900">
              <a:buFont typeface="+mj-lt"/>
              <a:buAutoNum type="arabicPeriod"/>
            </a:pPr>
            <a:r>
              <a:rPr lang="zh-CN" altLang="en-US" dirty="0">
                <a:solidFill>
                  <a:srgbClr val="DFAAC0"/>
                </a:solidFill>
              </a:rPr>
              <a:t>总结与展望：研究成果、创新点、后续改进方向。</a:t>
            </a:r>
          </a:p>
          <a:p>
            <a:endParaRPr lang="zh-CN" altLang="en-US" dirty="0">
              <a:solidFill>
                <a:srgbClr val="DFAAC0"/>
              </a:solidFill>
            </a:endParaRPr>
          </a:p>
        </p:txBody>
      </p:sp>
    </p:spTree>
    <p:custDataLst>
      <p:tags r:id="rId1"/>
    </p:custDataLst>
    <p:extLst>
      <p:ext uri="{BB962C8B-B14F-4D97-AF65-F5344CB8AC3E}">
        <p14:creationId xmlns:p14="http://schemas.microsoft.com/office/powerpoint/2010/main" val="982538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4">
            <a:extLst>
              <a:ext uri="{28A0092B-C50C-407E-A947-70E740481C1C}">
                <a14:useLocalDpi xmlns:a14="http://schemas.microsoft.com/office/drawing/2010/main" val="0"/>
              </a:ext>
            </a:extLst>
          </a:blip>
          <a:srcRect l="16330" t="16719" r="16330" b="14074"/>
          <a:stretch>
            <a:fillRect/>
          </a:stretch>
        </p:blipFill>
        <p:spPr>
          <a:xfrm rot="5400000">
            <a:off x="2667000" y="-2666999"/>
            <a:ext cx="6858000" cy="12192002"/>
          </a:xfrm>
          <a:prstGeom prst="rect">
            <a:avLst/>
          </a:prstGeom>
          <a:solidFill>
            <a:srgbClr val="55B7B7"/>
          </a:solidFill>
        </p:spPr>
      </p:pic>
      <p:sp>
        <p:nvSpPr>
          <p:cNvPr id="9" name="矩形 8"/>
          <p:cNvSpPr/>
          <p:nvPr/>
        </p:nvSpPr>
        <p:spPr>
          <a:xfrm>
            <a:off x="760069" y="1509130"/>
            <a:ext cx="10671858" cy="3839740"/>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0" name="矩形 9"/>
          <p:cNvSpPr/>
          <p:nvPr/>
        </p:nvSpPr>
        <p:spPr>
          <a:xfrm>
            <a:off x="944876" y="1641150"/>
            <a:ext cx="10302244" cy="3478192"/>
          </a:xfrm>
          <a:prstGeom prst="rect">
            <a:avLst/>
          </a:prstGeom>
          <a:noFill/>
          <a:ln w="38100">
            <a:solidFill>
              <a:srgbClr val="DFAA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Bold" panose="020B0800000000000000" charset="-122"/>
              <a:ea typeface="思源黑体 CN Bold" panose="020B0800000000000000" charset="-122"/>
              <a:cs typeface="+mn-ea"/>
              <a:sym typeface="+mn-lt"/>
            </a:endParaRPr>
          </a:p>
        </p:txBody>
      </p:sp>
      <p:sp>
        <p:nvSpPr>
          <p:cNvPr id="12" name="Rectangle 26"/>
          <p:cNvSpPr>
            <a:spLocks noChangeArrowheads="1"/>
          </p:cNvSpPr>
          <p:nvPr/>
        </p:nvSpPr>
        <p:spPr bwMode="auto">
          <a:xfrm>
            <a:off x="1758948" y="2872563"/>
            <a:ext cx="8674100" cy="1015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algn="dist" defTabSz="1219200"/>
            <a:r>
              <a:rPr lang="zh-CN" sz="6600" b="1" spc="300" dirty="0">
                <a:solidFill>
                  <a:srgbClr val="DFAAC0"/>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sym typeface="阿里巴巴普惠体 R" panose="00020600040101010101" pitchFamily="18" charset="-122"/>
              </a:rPr>
              <a:t>谢谢您的观看</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TEMPLATE_SUBCATEGORY" val="0"/>
  <p:tag name="KSO_WM_TAG_VERSION" val="1.0"/>
  <p:tag name="KSO_WM_BEAUTIFY_FLAG" val="#wm#"/>
  <p:tag name="KSO_WM_TEMPLATE_CATEGORY" val="custom"/>
  <p:tag name="KSO_WM_TEMPLATE_INDEX" val="20187308"/>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3.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4.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66.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68.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70.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74.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76.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78.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80.xml><?xml version="1.0" encoding="utf-8"?>
<p:tagLst xmlns:a="http://schemas.openxmlformats.org/drawingml/2006/main" xmlns:r="http://schemas.openxmlformats.org/officeDocument/2006/relationships"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TotalTime>
  <Words>1326</Words>
  <Application>Microsoft Office PowerPoint</Application>
  <PresentationFormat>宽屏</PresentationFormat>
  <Paragraphs>141</Paragraphs>
  <Slides>20</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ui-sans-serif</vt:lpstr>
      <vt:lpstr>阿里巴巴普惠体 R</vt:lpstr>
      <vt:lpstr>黑体</vt:lpstr>
      <vt:lpstr>思源黑体 CN Bold</vt:lpstr>
      <vt:lpstr>微软雅黑</vt:lpstr>
      <vt:lpstr>微软雅黑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BH Z</dc:creator>
  <cp:keywords/>
  <dc:description/>
  <cp:lastModifiedBy>BH Z</cp:lastModifiedBy>
  <cp:revision>3</cp:revision>
  <dcterms:created xsi:type="dcterms:W3CDTF">2019-05-29T17:00:00Z</dcterms:created>
  <dcterms:modified xsi:type="dcterms:W3CDTF">2026-01-15T18:32:38Z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2052-11.1.0.8771</vt:lpwstr>
  </property>
  <property fmtid="{D5CDD505-2E9C-101B-9397-08002B2CF9AE}" pid="3" name="KSOTemplateUUID">
    <vt:lpwstr>v1.0_mb_SqmIhT4fGdTkncSC7Wr+2w==</vt:lpwstr>
  </property>
</Properties>
</file>